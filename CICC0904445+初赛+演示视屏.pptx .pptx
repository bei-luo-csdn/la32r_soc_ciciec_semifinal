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1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0" r:id="rId4"/>
    <p:sldId id="282" r:id="rId5"/>
    <p:sldId id="261" r:id="rId6"/>
    <p:sldId id="279" r:id="rId7"/>
    <p:sldId id="283" r:id="rId8"/>
    <p:sldId id="284" r:id="rId9"/>
    <p:sldId id="285" r:id="rId10"/>
    <p:sldId id="286" r:id="rId11"/>
    <p:sldId id="287" r:id="rId12"/>
    <p:sldId id="262" r:id="rId13"/>
    <p:sldId id="288" r:id="rId14"/>
    <p:sldId id="289" r:id="rId15"/>
    <p:sldId id="263" r:id="rId16"/>
    <p:sldId id="290" r:id="rId17"/>
    <p:sldId id="271" r:id="rId18"/>
    <p:sldId id="281" r:id="rId19"/>
  </p:sldIdLst>
  <p:sldSz cx="12192000" cy="6858000"/>
  <p:notesSz cx="6858000" cy="9144000"/>
  <p:embeddedFontLst>
    <p:embeddedFont>
      <p:font typeface="HarmonyOS Sans SC" panose="02010600030101010101" charset="-122"/>
      <p:regular r:id="rId21"/>
    </p:embeddedFont>
    <p:embeddedFont>
      <p:font typeface="HarmonyOS Sans SC Black" panose="02010600030101010101" charset="-122"/>
      <p:bold r:id="rId22"/>
    </p:embeddedFont>
    <p:embeddedFont>
      <p:font typeface="HarmonyOS Sans SC Light" panose="02010600030101010101" charset="-122"/>
      <p:regular r:id="rId23"/>
    </p:embeddedFont>
    <p:embeddedFont>
      <p:font typeface="HarmonyOS Sans SC Medium" panose="02010600030101010101" charset="-122"/>
      <p:regular r:id="rId24"/>
    </p:embeddedFont>
    <p:embeddedFont>
      <p:font typeface="Microsoft YaHei UI" panose="020B0503020204020204" pitchFamily="34" charset="-122"/>
      <p:regular r:id="rId25"/>
      <p:bold r:id="rId26"/>
    </p:embeddedFont>
    <p:embeddedFont>
      <p:font typeface="Noto Sans SC Black" panose="020B0200000000000000" pitchFamily="34" charset="-122"/>
      <p:bold r:id="rId27"/>
    </p:embeddedFont>
    <p:embeddedFont>
      <p:font typeface="等线" panose="02010600030101010101" pitchFamily="2" charset="-122"/>
      <p:regular r:id="rId28"/>
      <p:bold r:id="rId29"/>
    </p:embeddedFont>
    <p:embeddedFont>
      <p:font typeface="DejaVu Sans Mono" panose="020B0609030804020204" pitchFamily="49" charset="0"/>
      <p:regular r:id="rId30"/>
      <p:bold r:id="rId31"/>
      <p:italic r:id="rId32"/>
      <p:boldItalic r:id="rId33"/>
    </p:embeddedFont>
    <p:embeddedFont>
      <p:font typeface="微软雅黑" panose="020B0503020204020204" pitchFamily="34" charset="-122"/>
      <p:regular r:id="rId34"/>
      <p:bold r:id="rId3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3871" userDrawn="1">
          <p15:clr>
            <a:srgbClr val="A4A3A4"/>
          </p15:clr>
        </p15:guide>
        <p15:guide id="3" orient="horz" pos="25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2EAC"/>
    <a:srgbClr val="0068E3"/>
    <a:srgbClr val="004CE5"/>
    <a:srgbClr val="666666"/>
    <a:srgbClr val="142DA8"/>
    <a:srgbClr val="333333"/>
    <a:srgbClr val="FFFFFF"/>
    <a:srgbClr val="7399E5"/>
    <a:srgbClr val="E3E3E3"/>
    <a:srgbClr val="FF1A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26"/>
      </p:cViewPr>
      <p:guideLst>
        <p:guide orient="horz" pos="2177"/>
        <p:guide pos="3871"/>
        <p:guide orient="horz" pos="258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FA3CD-EB1C-7B5A-FFA9-F99BDF5BA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4AEB63-FAEC-038F-FB27-BF12EEECDE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E527E5-2991-480A-5DD2-2072FA2898C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507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2025/5/16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image" Target="../media/image3.pn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5" Type="http://schemas.openxmlformats.org/officeDocument/2006/relationships/tags" Target="../tags/tag68.xml"/><Relationship Id="rId10" Type="http://schemas.openxmlformats.org/officeDocument/2006/relationships/tags" Target="../tags/tag73.xml"/><Relationship Id="rId4" Type="http://schemas.openxmlformats.org/officeDocument/2006/relationships/tags" Target="../tags/tag67.xml"/><Relationship Id="rId9" Type="http://schemas.openxmlformats.org/officeDocument/2006/relationships/tags" Target="../tags/tag7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8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13" Type="http://schemas.openxmlformats.org/officeDocument/2006/relationships/notesSlide" Target="../notesSlides/notesSlide1.xml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85.xml"/><Relationship Id="rId16" Type="http://schemas.openxmlformats.org/officeDocument/2006/relationships/image" Target="../media/image6.jpeg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tags" Target="../tags/tag94.xml"/><Relationship Id="rId5" Type="http://schemas.openxmlformats.org/officeDocument/2006/relationships/tags" Target="../tags/tag88.xml"/><Relationship Id="rId15" Type="http://schemas.openxmlformats.org/officeDocument/2006/relationships/image" Target="../media/image5.png"/><Relationship Id="rId10" Type="http://schemas.openxmlformats.org/officeDocument/2006/relationships/tags" Target="../tags/tag93.xml"/><Relationship Id="rId4" Type="http://schemas.openxmlformats.org/officeDocument/2006/relationships/tags" Target="../tags/tag87.xml"/><Relationship Id="rId9" Type="http://schemas.openxmlformats.org/officeDocument/2006/relationships/tags" Target="../tags/tag92.xml"/><Relationship Id="rId1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5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13" Type="http://schemas.openxmlformats.org/officeDocument/2006/relationships/tags" Target="../tags/tag108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tags" Target="../tags/tag107.xml"/><Relationship Id="rId2" Type="http://schemas.openxmlformats.org/officeDocument/2006/relationships/tags" Target="../tags/tag97.xml"/><Relationship Id="rId16" Type="http://schemas.openxmlformats.org/officeDocument/2006/relationships/image" Target="../media/image5.png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tags" Target="../tags/tag106.xml"/><Relationship Id="rId5" Type="http://schemas.openxmlformats.org/officeDocument/2006/relationships/tags" Target="../tags/tag100.xml"/><Relationship Id="rId15" Type="http://schemas.openxmlformats.org/officeDocument/2006/relationships/image" Target="../media/image4.png"/><Relationship Id="rId10" Type="http://schemas.openxmlformats.org/officeDocument/2006/relationships/tags" Target="../tags/tag105.xml"/><Relationship Id="rId4" Type="http://schemas.openxmlformats.org/officeDocument/2006/relationships/tags" Target="../tags/tag99.xml"/><Relationship Id="rId9" Type="http://schemas.openxmlformats.org/officeDocument/2006/relationships/tags" Target="../tags/tag104.xml"/><Relationship Id="rId14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12" Type="http://schemas.openxmlformats.org/officeDocument/2006/relationships/image" Target="../media/image5.png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image" Target="../media/image4.png"/><Relationship Id="rId5" Type="http://schemas.openxmlformats.org/officeDocument/2006/relationships/tags" Target="../tags/tag113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12.xml"/><Relationship Id="rId9" Type="http://schemas.openxmlformats.org/officeDocument/2006/relationships/tags" Target="../tags/tag1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8.xml"/><Relationship Id="rId5" Type="http://schemas.openxmlformats.org/officeDocument/2006/relationships/image" Target="../media/image12.jpe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13" Type="http://schemas.openxmlformats.org/officeDocument/2006/relationships/tags" Target="../tags/tag141.xml"/><Relationship Id="rId18" Type="http://schemas.openxmlformats.org/officeDocument/2006/relationships/tags" Target="../tags/tag146.xml"/><Relationship Id="rId26" Type="http://schemas.openxmlformats.org/officeDocument/2006/relationships/image" Target="../media/image13.png"/><Relationship Id="rId3" Type="http://schemas.openxmlformats.org/officeDocument/2006/relationships/tags" Target="../tags/tag131.xml"/><Relationship Id="rId21" Type="http://schemas.openxmlformats.org/officeDocument/2006/relationships/tags" Target="../tags/tag149.xml"/><Relationship Id="rId7" Type="http://schemas.openxmlformats.org/officeDocument/2006/relationships/tags" Target="../tags/tag135.xml"/><Relationship Id="rId12" Type="http://schemas.openxmlformats.org/officeDocument/2006/relationships/tags" Target="../tags/tag140.xml"/><Relationship Id="rId17" Type="http://schemas.openxmlformats.org/officeDocument/2006/relationships/tags" Target="../tags/tag145.xml"/><Relationship Id="rId25" Type="http://schemas.openxmlformats.org/officeDocument/2006/relationships/image" Target="../media/image5.png"/><Relationship Id="rId2" Type="http://schemas.openxmlformats.org/officeDocument/2006/relationships/tags" Target="../tags/tag130.xml"/><Relationship Id="rId16" Type="http://schemas.openxmlformats.org/officeDocument/2006/relationships/tags" Target="../tags/tag144.xml"/><Relationship Id="rId20" Type="http://schemas.openxmlformats.org/officeDocument/2006/relationships/tags" Target="../tags/tag148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tags" Target="../tags/tag139.xml"/><Relationship Id="rId24" Type="http://schemas.openxmlformats.org/officeDocument/2006/relationships/image" Target="../media/image4.png"/><Relationship Id="rId5" Type="http://schemas.openxmlformats.org/officeDocument/2006/relationships/tags" Target="../tags/tag133.xml"/><Relationship Id="rId15" Type="http://schemas.openxmlformats.org/officeDocument/2006/relationships/tags" Target="../tags/tag143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138.xml"/><Relationship Id="rId19" Type="http://schemas.openxmlformats.org/officeDocument/2006/relationships/tags" Target="../tags/tag147.xml"/><Relationship Id="rId4" Type="http://schemas.openxmlformats.org/officeDocument/2006/relationships/tags" Target="../tags/tag132.xml"/><Relationship Id="rId9" Type="http://schemas.openxmlformats.org/officeDocument/2006/relationships/tags" Target="../tags/tag137.xml"/><Relationship Id="rId14" Type="http://schemas.openxmlformats.org/officeDocument/2006/relationships/tags" Target="../tags/tag142.xml"/><Relationship Id="rId22" Type="http://schemas.openxmlformats.org/officeDocument/2006/relationships/tags" Target="../tags/tag150.xml"/><Relationship Id="rId27" Type="http://schemas.openxmlformats.org/officeDocument/2006/relationships/hyperlink" Target="https://gitee.com/loongson-edu/la32r-Linux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1.xml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首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76300" y="2520000"/>
            <a:ext cx="104394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200">
                <a:solidFill>
                  <a:srgbClr val="142DA8"/>
                </a:solidFill>
                <a:latin typeface="Alimama ShuHeiTi Bold" charset="-122"/>
                <a:ea typeface="Alimama ShuHeiTi Bold" charset="-122"/>
              </a:rPr>
              <a:t>第九届全国大学生集成电路创新创业大赛</a:t>
            </a:r>
          </a:p>
        </p:txBody>
      </p:sp>
      <p:pic>
        <p:nvPicPr>
          <p:cNvPr id="9" name="图片 8" descr="集创赛黑字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000" y="1080000"/>
            <a:ext cx="1296000" cy="1296000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4296000" y="3420000"/>
            <a:ext cx="3600000" cy="540000"/>
          </a:xfrm>
          <a:prstGeom prst="roundRect">
            <a:avLst>
              <a:gd name="adj" fmla="val 15518"/>
            </a:avLst>
          </a:prstGeom>
          <a:solidFill>
            <a:schemeClr val="bg1"/>
          </a:solidFill>
          <a:ln w="25400">
            <a:solidFill>
              <a:srgbClr val="142DA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tIns="144145"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418965" y="3420110"/>
            <a:ext cx="335407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dirty="0">
                <a:solidFill>
                  <a:srgbClr val="142DA8"/>
                </a:solidFill>
                <a:latin typeface="+mj-ea"/>
                <a:ea typeface="+mj-ea"/>
              </a:rPr>
              <a:t>初赛实验报告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064000" y="432000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666666"/>
                </a:solidFill>
                <a:latin typeface="HarmonyOS Sans SC" panose="00000500000000000000" charset="-122"/>
                <a:ea typeface="HarmonyOS Sans SC" panose="00000500000000000000" charset="-122"/>
              </a:rPr>
              <a:t>北京智芯国信科技有限公司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4368800" y="5040000"/>
            <a:ext cx="1008000" cy="360000"/>
          </a:xfrm>
          <a:prstGeom prst="roundRect">
            <a:avLst>
              <a:gd name="adj" fmla="val 50000"/>
            </a:avLst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/>
              <a:t>Oririent</a:t>
            </a:r>
            <a:r>
              <a:rPr lang="en-US" altLang="zh-CN" sz="1200" dirty="0"/>
              <a:t> Team</a:t>
            </a:r>
            <a:endParaRPr lang="zh-CN" altLang="en-US" sz="1200" dirty="0"/>
          </a:p>
        </p:txBody>
      </p:sp>
      <p:sp>
        <p:nvSpPr>
          <p:cNvPr id="16" name="圆角矩形 15"/>
          <p:cNvSpPr/>
          <p:nvPr/>
        </p:nvSpPr>
        <p:spPr>
          <a:xfrm>
            <a:off x="6816725" y="5040000"/>
            <a:ext cx="1008000" cy="360045"/>
          </a:xfrm>
          <a:prstGeom prst="roundRect">
            <a:avLst>
              <a:gd name="adj" fmla="val 50000"/>
            </a:avLst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Ciciec-148</a:t>
            </a:r>
            <a:endParaRPr lang="zh-CN" altLang="en-US" sz="1200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目录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20000" y="432000"/>
            <a:ext cx="1260000" cy="576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zh-CN" altLang="en-US" sz="420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目录</a:t>
            </a: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979930" y="1800000"/>
            <a:ext cx="540000" cy="540000"/>
          </a:xfrm>
          <a:prstGeom prst="rect">
            <a:avLst/>
          </a:prstGeom>
          <a:solidFill>
            <a:srgbClr val="55CBF8"/>
          </a:solidFill>
          <a:ln>
            <a:noFill/>
          </a:ln>
          <a:effectLst>
            <a:outerShdw blurRad="50800" dist="38100" dir="2700000" algn="tl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HarmonyOS Sans SC Black" panose="00000A00000000000000" charset="-122"/>
                <a:ea typeface="HarmonyOS Sans SC Black" panose="00000A00000000000000" charset="-122"/>
              </a:rPr>
              <a:t>1</a:t>
            </a: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979930" y="2880000"/>
            <a:ext cx="540000" cy="540000"/>
          </a:xfrm>
          <a:prstGeom prst="rect">
            <a:avLst/>
          </a:prstGeom>
          <a:solidFill>
            <a:srgbClr val="004CE5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HarmonyOS Sans SC Black" panose="00000A00000000000000" charset="-122"/>
                <a:ea typeface="HarmonyOS Sans SC Black" panose="00000A00000000000000" charset="-122"/>
              </a:rPr>
              <a:t>2</a:t>
            </a: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1979930" y="3960000"/>
            <a:ext cx="540000" cy="540000"/>
          </a:xfrm>
          <a:prstGeom prst="rect">
            <a:avLst/>
          </a:prstGeom>
          <a:solidFill>
            <a:srgbClr val="1718B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HarmonyOS Sans SC Black" panose="00000A00000000000000" charset="-122"/>
                <a:ea typeface="HarmonyOS Sans SC Black" panose="00000A00000000000000" charset="-122"/>
              </a:rPr>
              <a:t>3</a:t>
            </a: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1979930" y="5040000"/>
            <a:ext cx="540000" cy="540000"/>
          </a:xfrm>
          <a:prstGeom prst="rect">
            <a:avLst/>
          </a:prstGeom>
          <a:solidFill>
            <a:srgbClr val="9545E5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HarmonyOS Sans SC Black" panose="00000A00000000000000" charset="-122"/>
                <a:ea typeface="HarmonyOS Sans SC Black" panose="00000A00000000000000" charset="-122"/>
              </a:rPr>
              <a:t>4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880000" y="1800225"/>
            <a:ext cx="360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latin typeface="+mj-ea"/>
                <a:ea typeface="+mj-ea"/>
              </a:rPr>
              <a:t>团队成员介绍</a:t>
            </a:r>
            <a:r>
              <a:rPr lang="en-US" altLang="zh-CN" sz="2400" dirty="0" err="1">
                <a:solidFill>
                  <a:srgbClr val="333333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duichengyuanjieshao</a:t>
            </a:r>
            <a:endParaRPr lang="zh-CN" altLang="en-US" sz="2400" dirty="0">
              <a:solidFill>
                <a:srgbClr val="333333"/>
              </a:solidFill>
              <a:latin typeface="HarmonyOS Sans SC Black" panose="00000A00000000000000" charset="-122"/>
              <a:ea typeface="HarmonyOS Sans SC Black" panose="00000A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09625" y="1104265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altLang="zh-CN" sz="140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CONTENTS</a:t>
            </a:r>
          </a:p>
        </p:txBody>
      </p:sp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2880635" y="2879725"/>
            <a:ext cx="360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latin typeface="+mj-ea"/>
                <a:ea typeface="+mj-ea"/>
              </a:rPr>
              <a:t>开发过程总结</a:t>
            </a: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2881270" y="3959225"/>
            <a:ext cx="360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latin typeface="+mj-ea"/>
                <a:ea typeface="+mj-ea"/>
              </a:rPr>
              <a:t>测试结果</a:t>
            </a: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2881270" y="439102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666666"/>
                </a:solidFill>
                <a:latin typeface="+mj-ea"/>
                <a:ea typeface="+mj-ea"/>
              </a:rPr>
              <a:t>（</a:t>
            </a:r>
            <a:r>
              <a:rPr lang="en-US" altLang="zh-CN" sz="1400" dirty="0" err="1">
                <a:solidFill>
                  <a:srgbClr val="666666"/>
                </a:solidFill>
                <a:latin typeface="+mj-ea"/>
                <a:ea typeface="+mj-ea"/>
              </a:rPr>
              <a:t>vivado</a:t>
            </a:r>
            <a:r>
              <a:rPr lang="zh-CN" altLang="en-US" sz="1400" dirty="0">
                <a:solidFill>
                  <a:srgbClr val="666666"/>
                </a:solidFill>
                <a:latin typeface="+mj-ea"/>
                <a:ea typeface="+mj-ea"/>
              </a:rPr>
              <a:t>仿真</a:t>
            </a:r>
            <a:r>
              <a:rPr lang="en-US" altLang="zh-CN" sz="1400" dirty="0">
                <a:solidFill>
                  <a:srgbClr val="666666"/>
                </a:solidFill>
                <a:latin typeface="+mj-ea"/>
                <a:ea typeface="+mj-ea"/>
              </a:rPr>
              <a:t>+FPGA</a:t>
            </a:r>
            <a:r>
              <a:rPr lang="zh-CN" altLang="en-US" sz="1400" dirty="0">
                <a:solidFill>
                  <a:srgbClr val="666666"/>
                </a:solidFill>
                <a:latin typeface="+mj-ea"/>
                <a:ea typeface="+mj-ea"/>
              </a:rPr>
              <a:t>验证）</a:t>
            </a:r>
          </a:p>
        </p:txBody>
      </p:sp>
      <p:sp>
        <p:nvSpPr>
          <p:cNvPr id="23" name="文本框 22"/>
          <p:cNvSpPr txBox="1"/>
          <p:nvPr>
            <p:custDataLst>
              <p:tags r:id="rId10"/>
            </p:custDataLst>
          </p:nvPr>
        </p:nvSpPr>
        <p:spPr>
          <a:xfrm>
            <a:off x="2880000" y="5040000"/>
            <a:ext cx="360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latin typeface="+mj-ea"/>
                <a:ea typeface="+mj-ea"/>
              </a:rPr>
              <a:t>总结</a:t>
            </a: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2881905" y="547052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666666"/>
                </a:solidFill>
                <a:latin typeface="+mj-ea"/>
                <a:ea typeface="+mj-ea"/>
              </a:rPr>
              <a:t>（心得体会</a:t>
            </a:r>
            <a:r>
              <a:rPr lang="en-US" altLang="zh-CN" sz="1400" dirty="0">
                <a:solidFill>
                  <a:srgbClr val="666666"/>
                </a:solidFill>
                <a:latin typeface="+mj-ea"/>
                <a:ea typeface="+mj-ea"/>
              </a:rPr>
              <a:t>+</a:t>
            </a:r>
            <a:r>
              <a:rPr lang="zh-CN" altLang="en-US" sz="1400" dirty="0">
                <a:solidFill>
                  <a:srgbClr val="666666"/>
                </a:solidFill>
                <a:latin typeface="+mj-ea"/>
                <a:ea typeface="+mj-ea"/>
              </a:rPr>
              <a:t>后续工作</a:t>
            </a:r>
            <a:r>
              <a:rPr lang="zh-CN" altLang="en-US" sz="1400" dirty="0">
                <a:solidFill>
                  <a:srgbClr val="666666"/>
                </a:solidFill>
                <a:latin typeface="HarmonyOS Sans SC" panose="00000500000000000000" charset="-122"/>
                <a:ea typeface="HarmonyOS Sans SC" panose="00000500000000000000" charset="-122"/>
              </a:rPr>
              <a:t>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5646000" y="1800000"/>
            <a:ext cx="900000" cy="900000"/>
          </a:xfrm>
          <a:prstGeom prst="rect">
            <a:avLst/>
          </a:prstGeom>
          <a:solidFill>
            <a:srgbClr val="55CBF8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HarmonyOS Sans SC Black" panose="00000A00000000000000" charset="-122"/>
                <a:ea typeface="HarmonyOS Sans SC Black" panose="00000A00000000000000" charset="-122"/>
              </a:rPr>
              <a:t>1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681605" y="2880000"/>
            <a:ext cx="682879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dirty="0">
                <a:solidFill>
                  <a:srgbClr val="142DA8"/>
                </a:solidFill>
                <a:latin typeface="+mj-ea"/>
                <a:ea typeface="+mj-ea"/>
              </a:rPr>
              <a:t>团队成员介绍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6323-2368-0A6E-DC89-DD2908A9E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E4ED1A0A-2401-314D-54CD-73E481424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8B4D8F80-ADB4-1A26-5A96-BD7716C73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D85D12EF-9817-B396-1940-EF946651F4E0}"/>
              </a:ext>
            </a:extLst>
          </p:cNvPr>
          <p:cNvSpPr/>
          <p:nvPr/>
        </p:nvSpPr>
        <p:spPr>
          <a:xfrm>
            <a:off x="8998837" y="425294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Introduction</a:t>
            </a:r>
            <a:endParaRPr lang="zh-CN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35FEF6F-82DA-CCDC-C531-292566ABDC43}"/>
              </a:ext>
            </a:extLst>
          </p:cNvPr>
          <p:cNvSpPr/>
          <p:nvPr/>
        </p:nvSpPr>
        <p:spPr>
          <a:xfrm>
            <a:off x="10010968" y="965294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1" name="矩形: 圆角 2">
            <a:extLst>
              <a:ext uri="{FF2B5EF4-FFF2-40B4-BE49-F238E27FC236}">
                <a16:creationId xmlns:a16="http://schemas.microsoft.com/office/drawing/2014/main" id="{655BEE02-8D3F-551B-4AD3-66BC19DFA02C}"/>
              </a:ext>
            </a:extLst>
          </p:cNvPr>
          <p:cNvSpPr/>
          <p:nvPr/>
        </p:nvSpPr>
        <p:spPr>
          <a:xfrm rot="2700000">
            <a:off x="5128990" y="4102008"/>
            <a:ext cx="1737813" cy="1737813"/>
          </a:xfrm>
          <a:prstGeom prst="roundRect">
            <a:avLst>
              <a:gd name="adj" fmla="val 16667"/>
            </a:avLst>
          </a:prstGeom>
          <a:solidFill>
            <a:srgbClr val="E3EF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52" name="矩形: 圆角 5">
            <a:extLst>
              <a:ext uri="{FF2B5EF4-FFF2-40B4-BE49-F238E27FC236}">
                <a16:creationId xmlns:a16="http://schemas.microsoft.com/office/drawing/2014/main" id="{6979E3E3-82D3-01DF-F4D9-99540BA92A6C}"/>
              </a:ext>
            </a:extLst>
          </p:cNvPr>
          <p:cNvSpPr/>
          <p:nvPr/>
        </p:nvSpPr>
        <p:spPr>
          <a:xfrm>
            <a:off x="5128991" y="4102008"/>
            <a:ext cx="1737813" cy="1737813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04CE5"/>
              </a:gs>
              <a:gs pos="74901">
                <a:srgbClr val="87A9EE"/>
              </a:gs>
              <a:gs pos="100000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4400">
                <a:solidFill>
                  <a:srgbClr val="FFFFFF"/>
                </a:solidFill>
                <a:effectLst>
                  <a:outerShdw blurRad="215900" dist="38100" dir="2700000" rotWithShape="0">
                    <a:srgbClr val="000000">
                      <a:alpha val="14000"/>
                    </a:srgbClr>
                  </a:outerShdw>
                </a:effectLst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53" name="椭圆 8">
            <a:extLst>
              <a:ext uri="{FF2B5EF4-FFF2-40B4-BE49-F238E27FC236}">
                <a16:creationId xmlns:a16="http://schemas.microsoft.com/office/drawing/2014/main" id="{B6451979-B510-8494-6D3A-7CAA391F1409}"/>
              </a:ext>
            </a:extLst>
          </p:cNvPr>
          <p:cNvSpPr/>
          <p:nvPr/>
        </p:nvSpPr>
        <p:spPr>
          <a:xfrm rot="16200000">
            <a:off x="2867823" y="4631001"/>
            <a:ext cx="943993" cy="943993"/>
          </a:xfrm>
          <a:prstGeom prst="ellipse">
            <a:avLst/>
          </a:prstGeom>
          <a:gradFill>
            <a:gsLst>
              <a:gs pos="0">
                <a:srgbClr val="2A64E3"/>
              </a:gs>
              <a:gs pos="92572">
                <a:srgbClr val="87A9EE"/>
              </a:gs>
              <a:gs pos="100000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4400">
                <a:solidFill>
                  <a:srgbClr val="FFFFFF"/>
                </a:solidFill>
                <a:effectLst>
                  <a:outerShdw blurRad="215900" dist="38100" dir="2700000" rotWithShape="0">
                    <a:srgbClr val="000000">
                      <a:alpha val="14000"/>
                    </a:srgbClr>
                  </a:outerShdw>
                </a:effectLst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54" name="椭圆 9">
            <a:extLst>
              <a:ext uri="{FF2B5EF4-FFF2-40B4-BE49-F238E27FC236}">
                <a16:creationId xmlns:a16="http://schemas.microsoft.com/office/drawing/2014/main" id="{2162CE43-7C3D-AD32-2CF5-479FE1DDEE5C}"/>
              </a:ext>
            </a:extLst>
          </p:cNvPr>
          <p:cNvSpPr/>
          <p:nvPr/>
        </p:nvSpPr>
        <p:spPr>
          <a:xfrm rot="18360000">
            <a:off x="3375471" y="3011956"/>
            <a:ext cx="943993" cy="943993"/>
          </a:xfrm>
          <a:prstGeom prst="ellipse">
            <a:avLst/>
          </a:prstGeom>
          <a:gradFill>
            <a:gsLst>
              <a:gs pos="0">
                <a:srgbClr val="EA3323"/>
              </a:gs>
              <a:gs pos="92572">
                <a:srgbClr val="E7918D"/>
              </a:gs>
              <a:gs pos="100000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4400">
                <a:solidFill>
                  <a:srgbClr val="FFFFFF"/>
                </a:solidFill>
                <a:effectLst>
                  <a:outerShdw blurRad="215900" dist="38100" dir="2700000" rotWithShape="0">
                    <a:srgbClr val="000000">
                      <a:alpha val="14000"/>
                    </a:srgbClr>
                  </a:outerShdw>
                </a:effectLst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55" name="椭圆 10">
            <a:extLst>
              <a:ext uri="{FF2B5EF4-FFF2-40B4-BE49-F238E27FC236}">
                <a16:creationId xmlns:a16="http://schemas.microsoft.com/office/drawing/2014/main" id="{6315E372-F281-E937-4250-13A1F7C782C7}"/>
              </a:ext>
            </a:extLst>
          </p:cNvPr>
          <p:cNvSpPr/>
          <p:nvPr/>
        </p:nvSpPr>
        <p:spPr>
          <a:xfrm rot="20520000">
            <a:off x="4704512" y="1916831"/>
            <a:ext cx="943993" cy="943993"/>
          </a:xfrm>
          <a:prstGeom prst="ellipse">
            <a:avLst/>
          </a:prstGeom>
          <a:gradFill>
            <a:gsLst>
              <a:gs pos="0">
                <a:srgbClr val="2A64E3"/>
              </a:gs>
              <a:gs pos="92572">
                <a:srgbClr val="87A9EE"/>
              </a:gs>
              <a:gs pos="100000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4400">
                <a:solidFill>
                  <a:srgbClr val="FFFFFF"/>
                </a:solidFill>
                <a:effectLst>
                  <a:outerShdw blurRad="215900" dist="38100" dir="2700000" rotWithShape="0">
                    <a:srgbClr val="000000">
                      <a:alpha val="14000"/>
                    </a:srgbClr>
                  </a:outerShdw>
                </a:effectLst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56" name="椭圆 11">
            <a:extLst>
              <a:ext uri="{FF2B5EF4-FFF2-40B4-BE49-F238E27FC236}">
                <a16:creationId xmlns:a16="http://schemas.microsoft.com/office/drawing/2014/main" id="{3C0AE408-9307-447B-C80C-CE0C4FDBF1BB}"/>
              </a:ext>
            </a:extLst>
          </p:cNvPr>
          <p:cNvSpPr/>
          <p:nvPr/>
        </p:nvSpPr>
        <p:spPr>
          <a:xfrm rot="1080000">
            <a:off x="6347295" y="1916832"/>
            <a:ext cx="943993" cy="943993"/>
          </a:xfrm>
          <a:prstGeom prst="ellipse">
            <a:avLst/>
          </a:prstGeom>
          <a:gradFill>
            <a:gsLst>
              <a:gs pos="0">
                <a:srgbClr val="F2A5A8"/>
              </a:gs>
              <a:gs pos="92572">
                <a:srgbClr val="EACAD0"/>
              </a:gs>
              <a:gs pos="100000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4400">
                <a:solidFill>
                  <a:srgbClr val="FFFFFF"/>
                </a:solidFill>
                <a:effectLst>
                  <a:outerShdw blurRad="215900" dist="38100" dir="2700000" rotWithShape="0">
                    <a:srgbClr val="000000">
                      <a:alpha val="14000"/>
                    </a:srgbClr>
                  </a:outerShdw>
                </a:effectLst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57" name="椭圆 12">
            <a:extLst>
              <a:ext uri="{FF2B5EF4-FFF2-40B4-BE49-F238E27FC236}">
                <a16:creationId xmlns:a16="http://schemas.microsoft.com/office/drawing/2014/main" id="{53B21E32-5F2C-75BD-D318-377C2666053D}"/>
              </a:ext>
            </a:extLst>
          </p:cNvPr>
          <p:cNvSpPr/>
          <p:nvPr/>
        </p:nvSpPr>
        <p:spPr>
          <a:xfrm rot="3240000">
            <a:off x="7676335" y="3011957"/>
            <a:ext cx="943993" cy="943993"/>
          </a:xfrm>
          <a:prstGeom prst="ellipse">
            <a:avLst/>
          </a:prstGeom>
          <a:gradFill>
            <a:gsLst>
              <a:gs pos="0">
                <a:srgbClr val="2A64E3"/>
              </a:gs>
              <a:gs pos="92572">
                <a:srgbClr val="87A9EE"/>
              </a:gs>
              <a:gs pos="100000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4400">
                <a:solidFill>
                  <a:srgbClr val="FFFFFF"/>
                </a:solidFill>
                <a:effectLst>
                  <a:outerShdw blurRad="215900" dist="38100" dir="2700000" rotWithShape="0">
                    <a:srgbClr val="000000">
                      <a:alpha val="14000"/>
                    </a:srgbClr>
                  </a:outerShdw>
                </a:effectLst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58" name="椭圆 13">
            <a:extLst>
              <a:ext uri="{FF2B5EF4-FFF2-40B4-BE49-F238E27FC236}">
                <a16:creationId xmlns:a16="http://schemas.microsoft.com/office/drawing/2014/main" id="{D00CFF73-286F-486B-C2F6-5205699F42CF}"/>
              </a:ext>
            </a:extLst>
          </p:cNvPr>
          <p:cNvSpPr/>
          <p:nvPr/>
        </p:nvSpPr>
        <p:spPr>
          <a:xfrm rot="5400000">
            <a:off x="8183983" y="4631002"/>
            <a:ext cx="943993" cy="943993"/>
          </a:xfrm>
          <a:prstGeom prst="ellipse">
            <a:avLst/>
          </a:prstGeom>
          <a:gradFill>
            <a:gsLst>
              <a:gs pos="0">
                <a:srgbClr val="FAE44C"/>
              </a:gs>
              <a:gs pos="92572">
                <a:srgbClr val="EFE9A2"/>
              </a:gs>
              <a:gs pos="100000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4400">
                <a:solidFill>
                  <a:srgbClr val="FFFFFF"/>
                </a:solidFill>
                <a:effectLst>
                  <a:outerShdw blurRad="215900" dist="38100" dir="2700000" rotWithShape="0">
                    <a:srgbClr val="000000">
                      <a:alpha val="14000"/>
                    </a:srgbClr>
                  </a:outerShdw>
                </a:effectLst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59" name="椭圆 14">
            <a:extLst>
              <a:ext uri="{FF2B5EF4-FFF2-40B4-BE49-F238E27FC236}">
                <a16:creationId xmlns:a16="http://schemas.microsoft.com/office/drawing/2014/main" id="{6E63C7AD-184E-87FD-29A7-9CEA7C57A64B}"/>
              </a:ext>
            </a:extLst>
          </p:cNvPr>
          <p:cNvSpPr/>
          <p:nvPr/>
        </p:nvSpPr>
        <p:spPr>
          <a:xfrm rot="16200000">
            <a:off x="4017064" y="5272699"/>
            <a:ext cx="133401" cy="133401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60" name="椭圆 15">
            <a:extLst>
              <a:ext uri="{FF2B5EF4-FFF2-40B4-BE49-F238E27FC236}">
                <a16:creationId xmlns:a16="http://schemas.microsoft.com/office/drawing/2014/main" id="{617D4833-4CD8-B601-B934-3E21578E5F4B}"/>
              </a:ext>
            </a:extLst>
          </p:cNvPr>
          <p:cNvSpPr/>
          <p:nvPr/>
        </p:nvSpPr>
        <p:spPr>
          <a:xfrm rot="16200000">
            <a:off x="4253817" y="5303687"/>
            <a:ext cx="71423" cy="71423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61" name="椭圆 16">
            <a:extLst>
              <a:ext uri="{FF2B5EF4-FFF2-40B4-BE49-F238E27FC236}">
                <a16:creationId xmlns:a16="http://schemas.microsoft.com/office/drawing/2014/main" id="{855C5AA2-2886-EEB3-6D60-DD33E3830222}"/>
              </a:ext>
            </a:extLst>
          </p:cNvPr>
          <p:cNvSpPr/>
          <p:nvPr/>
        </p:nvSpPr>
        <p:spPr>
          <a:xfrm rot="16200000">
            <a:off x="4407994" y="5323767"/>
            <a:ext cx="31267" cy="31267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62" name="椭圆 17">
            <a:extLst>
              <a:ext uri="{FF2B5EF4-FFF2-40B4-BE49-F238E27FC236}">
                <a16:creationId xmlns:a16="http://schemas.microsoft.com/office/drawing/2014/main" id="{5D031F1D-7569-456D-FA42-D14431BDAC72}"/>
              </a:ext>
            </a:extLst>
          </p:cNvPr>
          <p:cNvSpPr/>
          <p:nvPr/>
        </p:nvSpPr>
        <p:spPr>
          <a:xfrm rot="18360000">
            <a:off x="4345773" y="4016885"/>
            <a:ext cx="133401" cy="133401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63" name="椭圆 18">
            <a:extLst>
              <a:ext uri="{FF2B5EF4-FFF2-40B4-BE49-F238E27FC236}">
                <a16:creationId xmlns:a16="http://schemas.microsoft.com/office/drawing/2014/main" id="{D3BDCC85-5206-52CE-3B14-D531051896A0}"/>
              </a:ext>
            </a:extLst>
          </p:cNvPr>
          <p:cNvSpPr/>
          <p:nvPr/>
        </p:nvSpPr>
        <p:spPr>
          <a:xfrm rot="18360000">
            <a:off x="4543229" y="4168820"/>
            <a:ext cx="71423" cy="71423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64" name="椭圆 19">
            <a:extLst>
              <a:ext uri="{FF2B5EF4-FFF2-40B4-BE49-F238E27FC236}">
                <a16:creationId xmlns:a16="http://schemas.microsoft.com/office/drawing/2014/main" id="{14D6BE96-19FB-A550-9815-024E97018628}"/>
              </a:ext>
            </a:extLst>
          </p:cNvPr>
          <p:cNvSpPr/>
          <p:nvPr/>
        </p:nvSpPr>
        <p:spPr>
          <a:xfrm rot="18360000">
            <a:off x="4671794" y="4267721"/>
            <a:ext cx="31267" cy="31267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65" name="椭圆 20">
            <a:extLst>
              <a:ext uri="{FF2B5EF4-FFF2-40B4-BE49-F238E27FC236}">
                <a16:creationId xmlns:a16="http://schemas.microsoft.com/office/drawing/2014/main" id="{0FE4B873-DA0F-E5FB-6421-20A295CD19F3}"/>
              </a:ext>
            </a:extLst>
          </p:cNvPr>
          <p:cNvSpPr/>
          <p:nvPr/>
        </p:nvSpPr>
        <p:spPr>
          <a:xfrm rot="19971605">
            <a:off x="5369924" y="3148922"/>
            <a:ext cx="133403" cy="133403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66" name="椭圆 21">
            <a:extLst>
              <a:ext uri="{FF2B5EF4-FFF2-40B4-BE49-F238E27FC236}">
                <a16:creationId xmlns:a16="http://schemas.microsoft.com/office/drawing/2014/main" id="{A896CB5E-47FF-45D2-BBDD-AAED16B8CA01}"/>
              </a:ext>
            </a:extLst>
          </p:cNvPr>
          <p:cNvSpPr/>
          <p:nvPr/>
        </p:nvSpPr>
        <p:spPr>
          <a:xfrm rot="19971605">
            <a:off x="5494778" y="3363022"/>
            <a:ext cx="71423" cy="71423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67" name="椭圆 22">
            <a:extLst>
              <a:ext uri="{FF2B5EF4-FFF2-40B4-BE49-F238E27FC236}">
                <a16:creationId xmlns:a16="http://schemas.microsoft.com/office/drawing/2014/main" id="{5CFBFADB-7F72-104B-9AC4-C4F1BFFEC7C4}"/>
              </a:ext>
            </a:extLst>
          </p:cNvPr>
          <p:cNvSpPr/>
          <p:nvPr/>
        </p:nvSpPr>
        <p:spPr>
          <a:xfrm rot="19971605">
            <a:off x="5576025" y="3502435"/>
            <a:ext cx="31267" cy="31267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68" name="椭圆 23">
            <a:extLst>
              <a:ext uri="{FF2B5EF4-FFF2-40B4-BE49-F238E27FC236}">
                <a16:creationId xmlns:a16="http://schemas.microsoft.com/office/drawing/2014/main" id="{BE44C66D-15E2-E47A-5C49-7F52E7F59460}"/>
              </a:ext>
            </a:extLst>
          </p:cNvPr>
          <p:cNvSpPr/>
          <p:nvPr/>
        </p:nvSpPr>
        <p:spPr>
          <a:xfrm rot="1808571">
            <a:off x="6584167" y="3150315"/>
            <a:ext cx="133403" cy="133403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69" name="椭圆 24">
            <a:extLst>
              <a:ext uri="{FF2B5EF4-FFF2-40B4-BE49-F238E27FC236}">
                <a16:creationId xmlns:a16="http://schemas.microsoft.com/office/drawing/2014/main" id="{9C758603-561F-291F-62E0-D0E8C2D3C746}"/>
              </a:ext>
            </a:extLst>
          </p:cNvPr>
          <p:cNvSpPr/>
          <p:nvPr/>
        </p:nvSpPr>
        <p:spPr>
          <a:xfrm rot="1808571">
            <a:off x="6511831" y="3359246"/>
            <a:ext cx="71423" cy="71423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70" name="椭圆 25">
            <a:extLst>
              <a:ext uri="{FF2B5EF4-FFF2-40B4-BE49-F238E27FC236}">
                <a16:creationId xmlns:a16="http://schemas.microsoft.com/office/drawing/2014/main" id="{26E902EC-860F-D863-F7A7-44392DB1E324}"/>
              </a:ext>
            </a:extLst>
          </p:cNvPr>
          <p:cNvSpPr/>
          <p:nvPr/>
        </p:nvSpPr>
        <p:spPr>
          <a:xfrm rot="1808571">
            <a:off x="6464569" y="3495290"/>
            <a:ext cx="31267" cy="31267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71" name="椭圆 26">
            <a:extLst>
              <a:ext uri="{FF2B5EF4-FFF2-40B4-BE49-F238E27FC236}">
                <a16:creationId xmlns:a16="http://schemas.microsoft.com/office/drawing/2014/main" id="{08E02725-FDD8-17E4-F293-0BD497699AD2}"/>
              </a:ext>
            </a:extLst>
          </p:cNvPr>
          <p:cNvSpPr/>
          <p:nvPr/>
        </p:nvSpPr>
        <p:spPr>
          <a:xfrm rot="3240000">
            <a:off x="7538054" y="4003075"/>
            <a:ext cx="133401" cy="133401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72" name="椭圆 27">
            <a:extLst>
              <a:ext uri="{FF2B5EF4-FFF2-40B4-BE49-F238E27FC236}">
                <a16:creationId xmlns:a16="http://schemas.microsoft.com/office/drawing/2014/main" id="{582B4B96-E602-FEBF-1EEA-420E97228087}"/>
              </a:ext>
            </a:extLst>
          </p:cNvPr>
          <p:cNvSpPr/>
          <p:nvPr/>
        </p:nvSpPr>
        <p:spPr>
          <a:xfrm rot="3240000">
            <a:off x="7402577" y="4155010"/>
            <a:ext cx="71423" cy="71423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73" name="椭圆 28">
            <a:extLst>
              <a:ext uri="{FF2B5EF4-FFF2-40B4-BE49-F238E27FC236}">
                <a16:creationId xmlns:a16="http://schemas.microsoft.com/office/drawing/2014/main" id="{C7B87213-C203-C2BF-0570-86AB16FBD11A}"/>
              </a:ext>
            </a:extLst>
          </p:cNvPr>
          <p:cNvSpPr/>
          <p:nvPr/>
        </p:nvSpPr>
        <p:spPr>
          <a:xfrm rot="3240000">
            <a:off x="7314166" y="4253908"/>
            <a:ext cx="31267" cy="31267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74" name="椭圆 29">
            <a:extLst>
              <a:ext uri="{FF2B5EF4-FFF2-40B4-BE49-F238E27FC236}">
                <a16:creationId xmlns:a16="http://schemas.microsoft.com/office/drawing/2014/main" id="{F97F4875-786A-9AD1-33B2-5577DE915C76}"/>
              </a:ext>
            </a:extLst>
          </p:cNvPr>
          <p:cNvSpPr/>
          <p:nvPr/>
        </p:nvSpPr>
        <p:spPr>
          <a:xfrm rot="5400000">
            <a:off x="7837882" y="5272699"/>
            <a:ext cx="133403" cy="133403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75" name="椭圆 30">
            <a:extLst>
              <a:ext uri="{FF2B5EF4-FFF2-40B4-BE49-F238E27FC236}">
                <a16:creationId xmlns:a16="http://schemas.microsoft.com/office/drawing/2014/main" id="{DB962E5C-E623-480D-7ED2-DD9752818966}"/>
              </a:ext>
            </a:extLst>
          </p:cNvPr>
          <p:cNvSpPr/>
          <p:nvPr/>
        </p:nvSpPr>
        <p:spPr>
          <a:xfrm rot="5400000">
            <a:off x="7663105" y="5303689"/>
            <a:ext cx="71423" cy="71423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76" name="椭圆 31">
            <a:extLst>
              <a:ext uri="{FF2B5EF4-FFF2-40B4-BE49-F238E27FC236}">
                <a16:creationId xmlns:a16="http://schemas.microsoft.com/office/drawing/2014/main" id="{F0B11B22-607F-F95F-CB3F-EF9F019E1D8E}"/>
              </a:ext>
            </a:extLst>
          </p:cNvPr>
          <p:cNvSpPr/>
          <p:nvPr/>
        </p:nvSpPr>
        <p:spPr>
          <a:xfrm rot="5400000">
            <a:off x="7549083" y="5323766"/>
            <a:ext cx="31267" cy="31267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77" name="文本框 32">
            <a:extLst>
              <a:ext uri="{FF2B5EF4-FFF2-40B4-BE49-F238E27FC236}">
                <a16:creationId xmlns:a16="http://schemas.microsoft.com/office/drawing/2014/main" id="{DBF82130-31EA-B05D-BE16-F8E861583285}"/>
              </a:ext>
            </a:extLst>
          </p:cNvPr>
          <p:cNvSpPr txBox="1"/>
          <p:nvPr/>
        </p:nvSpPr>
        <p:spPr>
          <a:xfrm>
            <a:off x="5074652" y="4628710"/>
            <a:ext cx="1906045" cy="83099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pPr>
            <a:r>
              <a:rPr lang="en-US" altLang="zh-CN" sz="2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Oririent</a:t>
            </a:r>
            <a:endParaRPr lang="en-US" altLang="zh-CN" sz="2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algn="ctr">
              <a:defRPr sz="2800" b="1">
                <a:solidFill>
                  <a:srgbClr val="FFFFFF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pPr>
            <a:r>
              <a:rPr lang="en-US" sz="2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Team</a:t>
            </a:r>
            <a:endParaRPr sz="2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578" name="文本框 34">
            <a:extLst>
              <a:ext uri="{FF2B5EF4-FFF2-40B4-BE49-F238E27FC236}">
                <a16:creationId xmlns:a16="http://schemas.microsoft.com/office/drawing/2014/main" id="{44EE09B1-3533-1352-3C24-B952E71DA0A2}"/>
              </a:ext>
            </a:extLst>
          </p:cNvPr>
          <p:cNvSpPr txBox="1"/>
          <p:nvPr/>
        </p:nvSpPr>
        <p:spPr>
          <a:xfrm>
            <a:off x="2893991" y="3105972"/>
            <a:ext cx="400108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200">
                <a:solidFill>
                  <a:srgbClr val="3B3838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年级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9" name="矩形 35">
            <a:extLst>
              <a:ext uri="{FF2B5EF4-FFF2-40B4-BE49-F238E27FC236}">
                <a16:creationId xmlns:a16="http://schemas.microsoft.com/office/drawing/2014/main" id="{C376C1B9-51B0-5916-1528-57C456CADC90}"/>
              </a:ext>
            </a:extLst>
          </p:cNvPr>
          <p:cNvSpPr txBox="1"/>
          <p:nvPr/>
        </p:nvSpPr>
        <p:spPr>
          <a:xfrm>
            <a:off x="1299599" y="5116441"/>
            <a:ext cx="1538448" cy="246221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r"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沈培峰、张一凡、贾怀琦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580" name="文本框 36">
            <a:extLst>
              <a:ext uri="{FF2B5EF4-FFF2-40B4-BE49-F238E27FC236}">
                <a16:creationId xmlns:a16="http://schemas.microsoft.com/office/drawing/2014/main" id="{BB3DDF8F-4797-BCD0-A6F8-7E4D1AD80E35}"/>
              </a:ext>
            </a:extLst>
          </p:cNvPr>
          <p:cNvSpPr txBox="1"/>
          <p:nvPr/>
        </p:nvSpPr>
        <p:spPr>
          <a:xfrm>
            <a:off x="2102833" y="4839442"/>
            <a:ext cx="707884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200">
                <a:solidFill>
                  <a:srgbClr val="3B3838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团队成员</a:t>
            </a:r>
            <a:endParaRPr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581" name="文本框 38">
            <a:extLst>
              <a:ext uri="{FF2B5EF4-FFF2-40B4-BE49-F238E27FC236}">
                <a16:creationId xmlns:a16="http://schemas.microsoft.com/office/drawing/2014/main" id="{32413810-9C64-CD23-7A8D-5B9AD898AF90}"/>
              </a:ext>
            </a:extLst>
          </p:cNvPr>
          <p:cNvSpPr txBox="1"/>
          <p:nvPr/>
        </p:nvSpPr>
        <p:spPr>
          <a:xfrm>
            <a:off x="4058082" y="1999884"/>
            <a:ext cx="400108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200">
                <a:solidFill>
                  <a:srgbClr val="3B3838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专业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582" name="文本框 40">
            <a:extLst>
              <a:ext uri="{FF2B5EF4-FFF2-40B4-BE49-F238E27FC236}">
                <a16:creationId xmlns:a16="http://schemas.microsoft.com/office/drawing/2014/main" id="{4EB0BE5B-727C-8691-BCC7-5C3D176B3C58}"/>
              </a:ext>
            </a:extLst>
          </p:cNvPr>
          <p:cNvSpPr txBox="1"/>
          <p:nvPr/>
        </p:nvSpPr>
        <p:spPr>
          <a:xfrm>
            <a:off x="8998838" y="3111028"/>
            <a:ext cx="707884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3B3838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dirty="0" err="1">
                <a:latin typeface="+mj-ea"/>
                <a:ea typeface="+mj-ea"/>
              </a:rPr>
              <a:t>项目名称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583" name="文本框 42">
            <a:extLst>
              <a:ext uri="{FF2B5EF4-FFF2-40B4-BE49-F238E27FC236}">
                <a16:creationId xmlns:a16="http://schemas.microsoft.com/office/drawing/2014/main" id="{833A1C73-E442-EB2D-89A9-82348401F209}"/>
              </a:ext>
            </a:extLst>
          </p:cNvPr>
          <p:cNvSpPr txBox="1"/>
          <p:nvPr/>
        </p:nvSpPr>
        <p:spPr>
          <a:xfrm>
            <a:off x="9303084" y="4660548"/>
            <a:ext cx="707884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3B3838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团队目标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584" name="文本框 44">
            <a:extLst>
              <a:ext uri="{FF2B5EF4-FFF2-40B4-BE49-F238E27FC236}">
                <a16:creationId xmlns:a16="http://schemas.microsoft.com/office/drawing/2014/main" id="{7A38F0A2-8286-2F64-1641-BCC305628510}"/>
              </a:ext>
            </a:extLst>
          </p:cNvPr>
          <p:cNvSpPr txBox="1"/>
          <p:nvPr/>
        </p:nvSpPr>
        <p:spPr>
          <a:xfrm>
            <a:off x="7719486" y="2011101"/>
            <a:ext cx="101566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3B3838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爱好技术方向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585" name="dollar-bag_17794">
            <a:extLst>
              <a:ext uri="{FF2B5EF4-FFF2-40B4-BE49-F238E27FC236}">
                <a16:creationId xmlns:a16="http://schemas.microsoft.com/office/drawing/2014/main" id="{6DC401ED-E551-33EA-42A5-41F724463DA3}"/>
              </a:ext>
            </a:extLst>
          </p:cNvPr>
          <p:cNvSpPr/>
          <p:nvPr/>
        </p:nvSpPr>
        <p:spPr>
          <a:xfrm>
            <a:off x="3167863" y="4846688"/>
            <a:ext cx="367888" cy="4906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72" h="21452" extrusionOk="0">
                <a:moveTo>
                  <a:pt x="18900" y="9239"/>
                </a:moveTo>
                <a:cubicBezTo>
                  <a:pt x="17617" y="7769"/>
                  <a:pt x="15804" y="6786"/>
                  <a:pt x="13641" y="6363"/>
                </a:cubicBezTo>
                <a:cubicBezTo>
                  <a:pt x="13909" y="6363"/>
                  <a:pt x="14182" y="6358"/>
                  <a:pt x="14444" y="6349"/>
                </a:cubicBezTo>
                <a:cubicBezTo>
                  <a:pt x="15507" y="6321"/>
                  <a:pt x="17843" y="5899"/>
                  <a:pt x="18562" y="6698"/>
                </a:cubicBezTo>
                <a:cubicBezTo>
                  <a:pt x="18704" y="6854"/>
                  <a:pt x="19447" y="6597"/>
                  <a:pt x="19388" y="6528"/>
                </a:cubicBezTo>
                <a:cubicBezTo>
                  <a:pt x="18853" y="5935"/>
                  <a:pt x="17664" y="6014"/>
                  <a:pt x="16844" y="6027"/>
                </a:cubicBezTo>
                <a:cubicBezTo>
                  <a:pt x="15810" y="6050"/>
                  <a:pt x="14610" y="6211"/>
                  <a:pt x="13523" y="6092"/>
                </a:cubicBezTo>
                <a:cubicBezTo>
                  <a:pt x="13938" y="6060"/>
                  <a:pt x="14354" y="6009"/>
                  <a:pt x="14770" y="5922"/>
                </a:cubicBezTo>
                <a:cubicBezTo>
                  <a:pt x="15971" y="5669"/>
                  <a:pt x="16773" y="4842"/>
                  <a:pt x="18098" y="4847"/>
                </a:cubicBezTo>
                <a:cubicBezTo>
                  <a:pt x="18241" y="4819"/>
                  <a:pt x="18615" y="4387"/>
                  <a:pt x="18389" y="4382"/>
                </a:cubicBezTo>
                <a:cubicBezTo>
                  <a:pt x="17617" y="4382"/>
                  <a:pt x="16993" y="4520"/>
                  <a:pt x="16321" y="4819"/>
                </a:cubicBezTo>
                <a:cubicBezTo>
                  <a:pt x="15935" y="4989"/>
                  <a:pt x="15584" y="5219"/>
                  <a:pt x="15210" y="5407"/>
                </a:cubicBezTo>
                <a:cubicBezTo>
                  <a:pt x="14438" y="5788"/>
                  <a:pt x="13469" y="5807"/>
                  <a:pt x="12548" y="5788"/>
                </a:cubicBezTo>
                <a:cubicBezTo>
                  <a:pt x="14188" y="4033"/>
                  <a:pt x="15596" y="1405"/>
                  <a:pt x="15056" y="431"/>
                </a:cubicBezTo>
                <a:cubicBezTo>
                  <a:pt x="14800" y="-33"/>
                  <a:pt x="14158" y="-148"/>
                  <a:pt x="13326" y="210"/>
                </a:cubicBezTo>
                <a:cubicBezTo>
                  <a:pt x="12435" y="601"/>
                  <a:pt x="11425" y="651"/>
                  <a:pt x="10563" y="651"/>
                </a:cubicBezTo>
                <a:cubicBezTo>
                  <a:pt x="10201" y="651"/>
                  <a:pt x="9832" y="642"/>
                  <a:pt x="9476" y="633"/>
                </a:cubicBezTo>
                <a:cubicBezTo>
                  <a:pt x="9113" y="619"/>
                  <a:pt x="8751" y="610"/>
                  <a:pt x="8400" y="610"/>
                </a:cubicBezTo>
                <a:cubicBezTo>
                  <a:pt x="7236" y="610"/>
                  <a:pt x="5911" y="716"/>
                  <a:pt x="4894" y="1502"/>
                </a:cubicBezTo>
                <a:cubicBezTo>
                  <a:pt x="4098" y="2140"/>
                  <a:pt x="5168" y="4745"/>
                  <a:pt x="8299" y="6275"/>
                </a:cubicBezTo>
                <a:cubicBezTo>
                  <a:pt x="2749" y="6910"/>
                  <a:pt x="1109" y="9786"/>
                  <a:pt x="271" y="12602"/>
                </a:cubicBezTo>
                <a:cubicBezTo>
                  <a:pt x="-412" y="14900"/>
                  <a:pt x="212" y="17202"/>
                  <a:pt x="1977" y="18916"/>
                </a:cubicBezTo>
                <a:cubicBezTo>
                  <a:pt x="3664" y="20551"/>
                  <a:pt x="7533" y="21452"/>
                  <a:pt x="10385" y="21452"/>
                </a:cubicBezTo>
                <a:cubicBezTo>
                  <a:pt x="17094" y="21452"/>
                  <a:pt x="19643" y="19297"/>
                  <a:pt x="20475" y="16191"/>
                </a:cubicBezTo>
                <a:cubicBezTo>
                  <a:pt x="21188" y="13788"/>
                  <a:pt x="20600" y="11187"/>
                  <a:pt x="18900" y="9239"/>
                </a:cubicBezTo>
                <a:close/>
                <a:moveTo>
                  <a:pt x="9125" y="1364"/>
                </a:moveTo>
                <a:cubicBezTo>
                  <a:pt x="9470" y="1364"/>
                  <a:pt x="9821" y="1373"/>
                  <a:pt x="10171" y="1382"/>
                </a:cubicBezTo>
                <a:cubicBezTo>
                  <a:pt x="10545" y="1391"/>
                  <a:pt x="10920" y="1405"/>
                  <a:pt x="11294" y="1405"/>
                </a:cubicBezTo>
                <a:cubicBezTo>
                  <a:pt x="11853" y="1405"/>
                  <a:pt x="12506" y="1377"/>
                  <a:pt x="13178" y="1258"/>
                </a:cubicBezTo>
                <a:cubicBezTo>
                  <a:pt x="12756" y="1456"/>
                  <a:pt x="12334" y="1672"/>
                  <a:pt x="11930" y="1892"/>
                </a:cubicBezTo>
                <a:cubicBezTo>
                  <a:pt x="9957" y="2940"/>
                  <a:pt x="8394" y="3767"/>
                  <a:pt x="6463" y="1901"/>
                </a:cubicBezTo>
                <a:cubicBezTo>
                  <a:pt x="7224" y="1437"/>
                  <a:pt x="8186" y="1364"/>
                  <a:pt x="9125" y="1364"/>
                </a:cubicBezTo>
                <a:close/>
                <a:moveTo>
                  <a:pt x="10724" y="17202"/>
                </a:moveTo>
                <a:lnTo>
                  <a:pt x="10724" y="18387"/>
                </a:lnTo>
                <a:lnTo>
                  <a:pt x="9791" y="18387"/>
                </a:lnTo>
                <a:lnTo>
                  <a:pt x="9791" y="17248"/>
                </a:lnTo>
                <a:cubicBezTo>
                  <a:pt x="8941" y="17234"/>
                  <a:pt x="8068" y="17027"/>
                  <a:pt x="7551" y="16747"/>
                </a:cubicBezTo>
                <a:lnTo>
                  <a:pt x="7907" y="15980"/>
                </a:lnTo>
                <a:cubicBezTo>
                  <a:pt x="8424" y="16242"/>
                  <a:pt x="9191" y="16471"/>
                  <a:pt x="10017" y="16471"/>
                </a:cubicBezTo>
                <a:cubicBezTo>
                  <a:pt x="11057" y="16471"/>
                  <a:pt x="11674" y="16003"/>
                  <a:pt x="11674" y="15355"/>
                </a:cubicBezTo>
                <a:cubicBezTo>
                  <a:pt x="11674" y="14730"/>
                  <a:pt x="11193" y="14339"/>
                  <a:pt x="10100" y="13999"/>
                </a:cubicBezTo>
                <a:cubicBezTo>
                  <a:pt x="8602" y="13540"/>
                  <a:pt x="7669" y="13007"/>
                  <a:pt x="7669" y="12014"/>
                </a:cubicBezTo>
                <a:cubicBezTo>
                  <a:pt x="7669" y="11068"/>
                  <a:pt x="8537" y="10351"/>
                  <a:pt x="9880" y="10181"/>
                </a:cubicBezTo>
                <a:lnTo>
                  <a:pt x="9880" y="9042"/>
                </a:lnTo>
                <a:lnTo>
                  <a:pt x="10813" y="9042"/>
                </a:lnTo>
                <a:lnTo>
                  <a:pt x="10807" y="10144"/>
                </a:lnTo>
                <a:cubicBezTo>
                  <a:pt x="11680" y="10167"/>
                  <a:pt x="12281" y="10351"/>
                  <a:pt x="12726" y="10544"/>
                </a:cubicBezTo>
                <a:lnTo>
                  <a:pt x="12358" y="11298"/>
                </a:lnTo>
                <a:cubicBezTo>
                  <a:pt x="12049" y="11160"/>
                  <a:pt x="11443" y="10898"/>
                  <a:pt x="10498" y="10898"/>
                </a:cubicBezTo>
                <a:cubicBezTo>
                  <a:pt x="9363" y="10898"/>
                  <a:pt x="9030" y="11422"/>
                  <a:pt x="9030" y="11890"/>
                </a:cubicBezTo>
                <a:cubicBezTo>
                  <a:pt x="9030" y="12469"/>
                  <a:pt x="9482" y="12768"/>
                  <a:pt x="10765" y="13186"/>
                </a:cubicBezTo>
                <a:cubicBezTo>
                  <a:pt x="12281" y="13668"/>
                  <a:pt x="13047" y="14247"/>
                  <a:pt x="13047" y="15263"/>
                </a:cubicBezTo>
                <a:cubicBezTo>
                  <a:pt x="13047" y="16173"/>
                  <a:pt x="12239" y="17018"/>
                  <a:pt x="10724" y="1720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86" name="dollar-bag_17794">
            <a:extLst>
              <a:ext uri="{FF2B5EF4-FFF2-40B4-BE49-F238E27FC236}">
                <a16:creationId xmlns:a16="http://schemas.microsoft.com/office/drawing/2014/main" id="{3B5551F6-5528-3C99-46F8-4BDFA052A3B6}"/>
              </a:ext>
            </a:extLst>
          </p:cNvPr>
          <p:cNvSpPr/>
          <p:nvPr/>
        </p:nvSpPr>
        <p:spPr>
          <a:xfrm>
            <a:off x="3594779" y="3227373"/>
            <a:ext cx="494048" cy="4705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0" h="21558" extrusionOk="0">
                <a:moveTo>
                  <a:pt x="2441" y="17336"/>
                </a:moveTo>
                <a:cubicBezTo>
                  <a:pt x="2748" y="17336"/>
                  <a:pt x="2997" y="17596"/>
                  <a:pt x="2997" y="17918"/>
                </a:cubicBezTo>
                <a:cubicBezTo>
                  <a:pt x="2997" y="18240"/>
                  <a:pt x="2748" y="18501"/>
                  <a:pt x="2441" y="18501"/>
                </a:cubicBezTo>
                <a:cubicBezTo>
                  <a:pt x="2135" y="18501"/>
                  <a:pt x="1886" y="18240"/>
                  <a:pt x="1886" y="17918"/>
                </a:cubicBezTo>
                <a:cubicBezTo>
                  <a:pt x="1886" y="17596"/>
                  <a:pt x="2135" y="17336"/>
                  <a:pt x="2441" y="17336"/>
                </a:cubicBezTo>
                <a:close/>
                <a:moveTo>
                  <a:pt x="2441" y="12146"/>
                </a:moveTo>
                <a:cubicBezTo>
                  <a:pt x="2748" y="12146"/>
                  <a:pt x="2997" y="12407"/>
                  <a:pt x="2997" y="12729"/>
                </a:cubicBezTo>
                <a:cubicBezTo>
                  <a:pt x="2997" y="13051"/>
                  <a:pt x="2748" y="13312"/>
                  <a:pt x="2441" y="13312"/>
                </a:cubicBezTo>
                <a:cubicBezTo>
                  <a:pt x="2135" y="13312"/>
                  <a:pt x="1886" y="13051"/>
                  <a:pt x="1886" y="12729"/>
                </a:cubicBezTo>
                <a:cubicBezTo>
                  <a:pt x="1886" y="12407"/>
                  <a:pt x="2135" y="12146"/>
                  <a:pt x="2441" y="12146"/>
                </a:cubicBezTo>
                <a:close/>
                <a:moveTo>
                  <a:pt x="15676" y="11128"/>
                </a:moveTo>
                <a:cubicBezTo>
                  <a:pt x="14436" y="10961"/>
                  <a:pt x="13503" y="11252"/>
                  <a:pt x="13096" y="12053"/>
                </a:cubicBezTo>
                <a:cubicBezTo>
                  <a:pt x="12690" y="12854"/>
                  <a:pt x="12660" y="13561"/>
                  <a:pt x="12690" y="13686"/>
                </a:cubicBezTo>
                <a:cubicBezTo>
                  <a:pt x="12719" y="13821"/>
                  <a:pt x="12858" y="14060"/>
                  <a:pt x="12858" y="14060"/>
                </a:cubicBezTo>
                <a:cubicBezTo>
                  <a:pt x="12858" y="14060"/>
                  <a:pt x="12233" y="15069"/>
                  <a:pt x="12273" y="15235"/>
                </a:cubicBezTo>
                <a:cubicBezTo>
                  <a:pt x="12312" y="15402"/>
                  <a:pt x="12739" y="15485"/>
                  <a:pt x="12739" y="15485"/>
                </a:cubicBezTo>
                <a:cubicBezTo>
                  <a:pt x="12739" y="15485"/>
                  <a:pt x="12779" y="15599"/>
                  <a:pt x="12699" y="15818"/>
                </a:cubicBezTo>
                <a:cubicBezTo>
                  <a:pt x="12620" y="16047"/>
                  <a:pt x="12848" y="16296"/>
                  <a:pt x="12908" y="16390"/>
                </a:cubicBezTo>
                <a:cubicBezTo>
                  <a:pt x="12977" y="16483"/>
                  <a:pt x="12819" y="16754"/>
                  <a:pt x="12868" y="16910"/>
                </a:cubicBezTo>
                <a:cubicBezTo>
                  <a:pt x="12928" y="17066"/>
                  <a:pt x="13186" y="17253"/>
                  <a:pt x="13483" y="17211"/>
                </a:cubicBezTo>
                <a:cubicBezTo>
                  <a:pt x="13771" y="17180"/>
                  <a:pt x="14158" y="17107"/>
                  <a:pt x="14287" y="17076"/>
                </a:cubicBezTo>
                <a:cubicBezTo>
                  <a:pt x="14585" y="17815"/>
                  <a:pt x="13870" y="18189"/>
                  <a:pt x="13870" y="18189"/>
                </a:cubicBezTo>
                <a:lnTo>
                  <a:pt x="17661" y="18189"/>
                </a:lnTo>
                <a:cubicBezTo>
                  <a:pt x="17661" y="18189"/>
                  <a:pt x="16559" y="17263"/>
                  <a:pt x="16579" y="16255"/>
                </a:cubicBezTo>
                <a:cubicBezTo>
                  <a:pt x="16589" y="15683"/>
                  <a:pt x="17661" y="14965"/>
                  <a:pt x="17651" y="13395"/>
                </a:cubicBezTo>
                <a:cubicBezTo>
                  <a:pt x="17651" y="12604"/>
                  <a:pt x="16917" y="11294"/>
                  <a:pt x="15676" y="11128"/>
                </a:cubicBezTo>
                <a:close/>
                <a:moveTo>
                  <a:pt x="13950" y="7737"/>
                </a:moveTo>
                <a:cubicBezTo>
                  <a:pt x="14108" y="7675"/>
                  <a:pt x="14277" y="7758"/>
                  <a:pt x="14337" y="7925"/>
                </a:cubicBezTo>
                <a:lnTo>
                  <a:pt x="14744" y="9079"/>
                </a:lnTo>
                <a:cubicBezTo>
                  <a:pt x="14803" y="9245"/>
                  <a:pt x="15150" y="9381"/>
                  <a:pt x="15269" y="9381"/>
                </a:cubicBezTo>
                <a:cubicBezTo>
                  <a:pt x="15379" y="9391"/>
                  <a:pt x="15527" y="9266"/>
                  <a:pt x="15597" y="9121"/>
                </a:cubicBezTo>
                <a:lnTo>
                  <a:pt x="16093" y="7987"/>
                </a:lnTo>
                <a:cubicBezTo>
                  <a:pt x="16153" y="7841"/>
                  <a:pt x="16331" y="7769"/>
                  <a:pt x="16480" y="7841"/>
                </a:cubicBezTo>
                <a:lnTo>
                  <a:pt x="18901" y="9006"/>
                </a:lnTo>
                <a:cubicBezTo>
                  <a:pt x="19050" y="9079"/>
                  <a:pt x="19119" y="9266"/>
                  <a:pt x="19050" y="9422"/>
                </a:cubicBezTo>
                <a:lnTo>
                  <a:pt x="18554" y="10545"/>
                </a:lnTo>
                <a:cubicBezTo>
                  <a:pt x="18484" y="10701"/>
                  <a:pt x="18643" y="11055"/>
                  <a:pt x="18713" y="11148"/>
                </a:cubicBezTo>
                <a:cubicBezTo>
                  <a:pt x="18792" y="11232"/>
                  <a:pt x="18971" y="11263"/>
                  <a:pt x="19129" y="11200"/>
                </a:cubicBezTo>
                <a:lnTo>
                  <a:pt x="20241" y="10774"/>
                </a:lnTo>
                <a:cubicBezTo>
                  <a:pt x="20389" y="10712"/>
                  <a:pt x="20568" y="10795"/>
                  <a:pt x="20618" y="10961"/>
                </a:cubicBezTo>
                <a:lnTo>
                  <a:pt x="21540" y="13582"/>
                </a:lnTo>
                <a:cubicBezTo>
                  <a:pt x="21600" y="13738"/>
                  <a:pt x="21521" y="13925"/>
                  <a:pt x="21372" y="13977"/>
                </a:cubicBezTo>
                <a:lnTo>
                  <a:pt x="20260" y="14414"/>
                </a:lnTo>
                <a:cubicBezTo>
                  <a:pt x="20102" y="14466"/>
                  <a:pt x="19983" y="14612"/>
                  <a:pt x="19983" y="14736"/>
                </a:cubicBezTo>
                <a:cubicBezTo>
                  <a:pt x="19983" y="14851"/>
                  <a:pt x="20082" y="15225"/>
                  <a:pt x="20231" y="15298"/>
                </a:cubicBezTo>
                <a:lnTo>
                  <a:pt x="21302" y="15818"/>
                </a:lnTo>
                <a:cubicBezTo>
                  <a:pt x="21451" y="15891"/>
                  <a:pt x="21511" y="16078"/>
                  <a:pt x="21441" y="16223"/>
                </a:cubicBezTo>
                <a:lnTo>
                  <a:pt x="20330" y="18771"/>
                </a:lnTo>
                <a:cubicBezTo>
                  <a:pt x="20260" y="18927"/>
                  <a:pt x="20082" y="18990"/>
                  <a:pt x="19933" y="18917"/>
                </a:cubicBezTo>
                <a:lnTo>
                  <a:pt x="18861" y="18397"/>
                </a:lnTo>
                <a:cubicBezTo>
                  <a:pt x="18713" y="18335"/>
                  <a:pt x="18375" y="18491"/>
                  <a:pt x="18286" y="18574"/>
                </a:cubicBezTo>
                <a:cubicBezTo>
                  <a:pt x="18207" y="18647"/>
                  <a:pt x="18177" y="18844"/>
                  <a:pt x="18236" y="19000"/>
                </a:cubicBezTo>
                <a:lnTo>
                  <a:pt x="18643" y="20165"/>
                </a:lnTo>
                <a:cubicBezTo>
                  <a:pt x="18703" y="20331"/>
                  <a:pt x="18623" y="20508"/>
                  <a:pt x="18474" y="20570"/>
                </a:cubicBezTo>
                <a:lnTo>
                  <a:pt x="15964" y="21538"/>
                </a:lnTo>
                <a:cubicBezTo>
                  <a:pt x="15815" y="21600"/>
                  <a:pt x="15637" y="21517"/>
                  <a:pt x="15587" y="21350"/>
                </a:cubicBezTo>
                <a:lnTo>
                  <a:pt x="15180" y="20186"/>
                </a:lnTo>
                <a:cubicBezTo>
                  <a:pt x="15121" y="20030"/>
                  <a:pt x="14773" y="19894"/>
                  <a:pt x="14664" y="19884"/>
                </a:cubicBezTo>
                <a:cubicBezTo>
                  <a:pt x="14545" y="19884"/>
                  <a:pt x="14396" y="19998"/>
                  <a:pt x="14327" y="20154"/>
                </a:cubicBezTo>
                <a:lnTo>
                  <a:pt x="13831" y="21278"/>
                </a:lnTo>
                <a:cubicBezTo>
                  <a:pt x="13771" y="21434"/>
                  <a:pt x="13592" y="21506"/>
                  <a:pt x="13444" y="21434"/>
                </a:cubicBezTo>
                <a:lnTo>
                  <a:pt x="11013" y="20258"/>
                </a:lnTo>
                <a:cubicBezTo>
                  <a:pt x="10874" y="20186"/>
                  <a:pt x="10804" y="19998"/>
                  <a:pt x="10874" y="19842"/>
                </a:cubicBezTo>
                <a:lnTo>
                  <a:pt x="11370" y="18730"/>
                </a:lnTo>
                <a:cubicBezTo>
                  <a:pt x="11439" y="18563"/>
                  <a:pt x="11281" y="18220"/>
                  <a:pt x="11211" y="18127"/>
                </a:cubicBezTo>
                <a:cubicBezTo>
                  <a:pt x="11132" y="18033"/>
                  <a:pt x="10943" y="18012"/>
                  <a:pt x="10794" y="18064"/>
                </a:cubicBezTo>
                <a:lnTo>
                  <a:pt x="9683" y="18501"/>
                </a:lnTo>
                <a:cubicBezTo>
                  <a:pt x="9534" y="18563"/>
                  <a:pt x="9356" y="18470"/>
                  <a:pt x="9306" y="18314"/>
                </a:cubicBezTo>
                <a:lnTo>
                  <a:pt x="8373" y="15693"/>
                </a:lnTo>
                <a:cubicBezTo>
                  <a:pt x="8324" y="15527"/>
                  <a:pt x="8403" y="15350"/>
                  <a:pt x="8552" y="15287"/>
                </a:cubicBezTo>
                <a:lnTo>
                  <a:pt x="9663" y="14861"/>
                </a:lnTo>
                <a:cubicBezTo>
                  <a:pt x="9812" y="14799"/>
                  <a:pt x="9941" y="14435"/>
                  <a:pt x="9951" y="14320"/>
                </a:cubicBezTo>
                <a:cubicBezTo>
                  <a:pt x="9961" y="14206"/>
                  <a:pt x="9842" y="14040"/>
                  <a:pt x="9693" y="13977"/>
                </a:cubicBezTo>
                <a:lnTo>
                  <a:pt x="8621" y="13457"/>
                </a:lnTo>
                <a:cubicBezTo>
                  <a:pt x="8472" y="13384"/>
                  <a:pt x="8413" y="13197"/>
                  <a:pt x="8482" y="13041"/>
                </a:cubicBezTo>
                <a:lnTo>
                  <a:pt x="9594" y="10504"/>
                </a:lnTo>
                <a:cubicBezTo>
                  <a:pt x="9663" y="10348"/>
                  <a:pt x="9842" y="10285"/>
                  <a:pt x="9991" y="10348"/>
                </a:cubicBezTo>
                <a:lnTo>
                  <a:pt x="11062" y="10868"/>
                </a:lnTo>
                <a:cubicBezTo>
                  <a:pt x="11211" y="10940"/>
                  <a:pt x="11548" y="10774"/>
                  <a:pt x="11628" y="10701"/>
                </a:cubicBezTo>
                <a:cubicBezTo>
                  <a:pt x="11717" y="10628"/>
                  <a:pt x="11737" y="10431"/>
                  <a:pt x="11687" y="10275"/>
                </a:cubicBezTo>
                <a:lnTo>
                  <a:pt x="11271" y="9110"/>
                </a:lnTo>
                <a:cubicBezTo>
                  <a:pt x="11221" y="8944"/>
                  <a:pt x="11300" y="8767"/>
                  <a:pt x="11449" y="8705"/>
                </a:cubicBezTo>
                <a:close/>
                <a:moveTo>
                  <a:pt x="2441" y="6957"/>
                </a:moveTo>
                <a:cubicBezTo>
                  <a:pt x="2748" y="6957"/>
                  <a:pt x="2997" y="7218"/>
                  <a:pt x="2997" y="7540"/>
                </a:cubicBezTo>
                <a:cubicBezTo>
                  <a:pt x="2997" y="7862"/>
                  <a:pt x="2748" y="8123"/>
                  <a:pt x="2441" y="8123"/>
                </a:cubicBezTo>
                <a:cubicBezTo>
                  <a:pt x="2135" y="8123"/>
                  <a:pt x="1886" y="7862"/>
                  <a:pt x="1886" y="7540"/>
                </a:cubicBezTo>
                <a:cubicBezTo>
                  <a:pt x="1886" y="7218"/>
                  <a:pt x="2135" y="6957"/>
                  <a:pt x="2441" y="6957"/>
                </a:cubicBezTo>
                <a:close/>
                <a:moveTo>
                  <a:pt x="2490" y="0"/>
                </a:moveTo>
                <a:lnTo>
                  <a:pt x="14496" y="0"/>
                </a:lnTo>
                <a:cubicBezTo>
                  <a:pt x="14962" y="0"/>
                  <a:pt x="15389" y="364"/>
                  <a:pt x="15439" y="811"/>
                </a:cubicBezTo>
                <a:lnTo>
                  <a:pt x="16977" y="6687"/>
                </a:lnTo>
                <a:cubicBezTo>
                  <a:pt x="16977" y="6698"/>
                  <a:pt x="16987" y="6718"/>
                  <a:pt x="16987" y="6729"/>
                </a:cubicBezTo>
                <a:lnTo>
                  <a:pt x="16987" y="7134"/>
                </a:lnTo>
                <a:lnTo>
                  <a:pt x="16828" y="7051"/>
                </a:lnTo>
                <a:cubicBezTo>
                  <a:pt x="16629" y="6958"/>
                  <a:pt x="16421" y="6937"/>
                  <a:pt x="16213" y="6968"/>
                </a:cubicBezTo>
                <a:lnTo>
                  <a:pt x="16213" y="6729"/>
                </a:lnTo>
                <a:cubicBezTo>
                  <a:pt x="16213" y="6292"/>
                  <a:pt x="15865" y="5928"/>
                  <a:pt x="15439" y="5928"/>
                </a:cubicBezTo>
                <a:lnTo>
                  <a:pt x="1548" y="5928"/>
                </a:lnTo>
                <a:cubicBezTo>
                  <a:pt x="1121" y="5928"/>
                  <a:pt x="774" y="6292"/>
                  <a:pt x="774" y="6729"/>
                </a:cubicBezTo>
                <a:lnTo>
                  <a:pt x="774" y="8351"/>
                </a:lnTo>
                <a:cubicBezTo>
                  <a:pt x="774" y="8799"/>
                  <a:pt x="1121" y="9163"/>
                  <a:pt x="1548" y="9163"/>
                </a:cubicBezTo>
                <a:lnTo>
                  <a:pt x="10448" y="9163"/>
                </a:lnTo>
                <a:cubicBezTo>
                  <a:pt x="10458" y="9246"/>
                  <a:pt x="10478" y="9329"/>
                  <a:pt x="10498" y="9402"/>
                </a:cubicBezTo>
                <a:lnTo>
                  <a:pt x="10607" y="9693"/>
                </a:lnTo>
                <a:lnTo>
                  <a:pt x="10329" y="9568"/>
                </a:lnTo>
                <a:cubicBezTo>
                  <a:pt x="9783" y="9308"/>
                  <a:pt x="9099" y="9579"/>
                  <a:pt x="8850" y="10140"/>
                </a:cubicBezTo>
                <a:lnTo>
                  <a:pt x="8424" y="11107"/>
                </a:lnTo>
                <a:lnTo>
                  <a:pt x="1548" y="11107"/>
                </a:lnTo>
                <a:cubicBezTo>
                  <a:pt x="1121" y="11107"/>
                  <a:pt x="774" y="11471"/>
                  <a:pt x="774" y="11919"/>
                </a:cubicBezTo>
                <a:lnTo>
                  <a:pt x="774" y="13541"/>
                </a:lnTo>
                <a:cubicBezTo>
                  <a:pt x="774" y="13988"/>
                  <a:pt x="1121" y="14352"/>
                  <a:pt x="1548" y="14352"/>
                </a:cubicBezTo>
                <a:lnTo>
                  <a:pt x="8503" y="14352"/>
                </a:lnTo>
                <a:lnTo>
                  <a:pt x="8553" y="14373"/>
                </a:lnTo>
                <a:lnTo>
                  <a:pt x="8265" y="14477"/>
                </a:lnTo>
                <a:cubicBezTo>
                  <a:pt x="7700" y="14706"/>
                  <a:pt x="7402" y="15371"/>
                  <a:pt x="7600" y="15985"/>
                </a:cubicBezTo>
                <a:lnTo>
                  <a:pt x="7719" y="16297"/>
                </a:lnTo>
                <a:lnTo>
                  <a:pt x="1548" y="16297"/>
                </a:lnTo>
                <a:cubicBezTo>
                  <a:pt x="1121" y="16297"/>
                  <a:pt x="774" y="16661"/>
                  <a:pt x="774" y="17108"/>
                </a:cubicBezTo>
                <a:lnTo>
                  <a:pt x="774" y="18731"/>
                </a:lnTo>
                <a:cubicBezTo>
                  <a:pt x="774" y="19178"/>
                  <a:pt x="1121" y="19542"/>
                  <a:pt x="1548" y="19542"/>
                </a:cubicBezTo>
                <a:lnTo>
                  <a:pt x="10111" y="19542"/>
                </a:lnTo>
                <a:cubicBezTo>
                  <a:pt x="10011" y="19791"/>
                  <a:pt x="10001" y="20072"/>
                  <a:pt x="10081" y="20343"/>
                </a:cubicBezTo>
                <a:lnTo>
                  <a:pt x="1548" y="20343"/>
                </a:lnTo>
                <a:cubicBezTo>
                  <a:pt x="695" y="20343"/>
                  <a:pt x="0" y="19625"/>
                  <a:pt x="0" y="18731"/>
                </a:cubicBezTo>
                <a:lnTo>
                  <a:pt x="0" y="17108"/>
                </a:lnTo>
                <a:cubicBezTo>
                  <a:pt x="0" y="17087"/>
                  <a:pt x="10" y="17077"/>
                  <a:pt x="10" y="17056"/>
                </a:cubicBezTo>
                <a:lnTo>
                  <a:pt x="407" y="14633"/>
                </a:lnTo>
                <a:cubicBezTo>
                  <a:pt x="159" y="14342"/>
                  <a:pt x="0" y="13957"/>
                  <a:pt x="0" y="13541"/>
                </a:cubicBezTo>
                <a:lnTo>
                  <a:pt x="0" y="11919"/>
                </a:lnTo>
                <a:cubicBezTo>
                  <a:pt x="0" y="11908"/>
                  <a:pt x="10" y="11887"/>
                  <a:pt x="10" y="11877"/>
                </a:cubicBezTo>
                <a:lnTo>
                  <a:pt x="407" y="9443"/>
                </a:lnTo>
                <a:cubicBezTo>
                  <a:pt x="159" y="9152"/>
                  <a:pt x="0" y="8767"/>
                  <a:pt x="0" y="8351"/>
                </a:cubicBezTo>
                <a:lnTo>
                  <a:pt x="0" y="6729"/>
                </a:lnTo>
                <a:cubicBezTo>
                  <a:pt x="0" y="6718"/>
                  <a:pt x="10" y="6698"/>
                  <a:pt x="10" y="6687"/>
                </a:cubicBezTo>
                <a:lnTo>
                  <a:pt x="1548" y="811"/>
                </a:lnTo>
                <a:cubicBezTo>
                  <a:pt x="1597" y="364"/>
                  <a:pt x="2014" y="0"/>
                  <a:pt x="2490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87" name="dollar-bag_17794">
            <a:extLst>
              <a:ext uri="{FF2B5EF4-FFF2-40B4-BE49-F238E27FC236}">
                <a16:creationId xmlns:a16="http://schemas.microsoft.com/office/drawing/2014/main" id="{0E1667CB-DA45-EEEF-41CB-5BF4DDD62FE3}"/>
              </a:ext>
            </a:extLst>
          </p:cNvPr>
          <p:cNvSpPr/>
          <p:nvPr/>
        </p:nvSpPr>
        <p:spPr>
          <a:xfrm>
            <a:off x="4929482" y="2206342"/>
            <a:ext cx="494048" cy="3557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4" h="21600" extrusionOk="0">
                <a:moveTo>
                  <a:pt x="15471" y="13581"/>
                </a:moveTo>
                <a:cubicBezTo>
                  <a:pt x="15529" y="13534"/>
                  <a:pt x="15601" y="13546"/>
                  <a:pt x="15656" y="13604"/>
                </a:cubicBezTo>
                <a:cubicBezTo>
                  <a:pt x="15933" y="13902"/>
                  <a:pt x="16240" y="14106"/>
                  <a:pt x="16559" y="14205"/>
                </a:cubicBezTo>
                <a:cubicBezTo>
                  <a:pt x="16618" y="14223"/>
                  <a:pt x="16665" y="14281"/>
                  <a:pt x="16686" y="14357"/>
                </a:cubicBezTo>
                <a:lnTo>
                  <a:pt x="17009" y="15553"/>
                </a:lnTo>
                <a:lnTo>
                  <a:pt x="17337" y="14357"/>
                </a:lnTo>
                <a:cubicBezTo>
                  <a:pt x="17358" y="14281"/>
                  <a:pt x="17404" y="14223"/>
                  <a:pt x="17463" y="14205"/>
                </a:cubicBezTo>
                <a:cubicBezTo>
                  <a:pt x="17787" y="14106"/>
                  <a:pt x="18090" y="13902"/>
                  <a:pt x="18367" y="13604"/>
                </a:cubicBezTo>
                <a:cubicBezTo>
                  <a:pt x="18422" y="13546"/>
                  <a:pt x="18493" y="13534"/>
                  <a:pt x="18552" y="13581"/>
                </a:cubicBezTo>
                <a:cubicBezTo>
                  <a:pt x="18804" y="13762"/>
                  <a:pt x="20061" y="14713"/>
                  <a:pt x="20381" y="15290"/>
                </a:cubicBezTo>
                <a:cubicBezTo>
                  <a:pt x="20995" y="16399"/>
                  <a:pt x="21432" y="19724"/>
                  <a:pt x="21592" y="21101"/>
                </a:cubicBezTo>
                <a:cubicBezTo>
                  <a:pt x="21600" y="21171"/>
                  <a:pt x="21587" y="21247"/>
                  <a:pt x="21554" y="21299"/>
                </a:cubicBezTo>
                <a:cubicBezTo>
                  <a:pt x="21520" y="21352"/>
                  <a:pt x="21474" y="21381"/>
                  <a:pt x="21423" y="21381"/>
                </a:cubicBezTo>
                <a:lnTo>
                  <a:pt x="12599" y="21381"/>
                </a:lnTo>
                <a:cubicBezTo>
                  <a:pt x="12549" y="21381"/>
                  <a:pt x="12503" y="21352"/>
                  <a:pt x="12469" y="21299"/>
                </a:cubicBezTo>
                <a:cubicBezTo>
                  <a:pt x="12435" y="21247"/>
                  <a:pt x="12423" y="21171"/>
                  <a:pt x="12431" y="21101"/>
                </a:cubicBezTo>
                <a:cubicBezTo>
                  <a:pt x="12591" y="19724"/>
                  <a:pt x="13028" y="16399"/>
                  <a:pt x="13642" y="15290"/>
                </a:cubicBezTo>
                <a:cubicBezTo>
                  <a:pt x="13961" y="14713"/>
                  <a:pt x="15218" y="13762"/>
                  <a:pt x="15471" y="13581"/>
                </a:cubicBezTo>
                <a:close/>
                <a:moveTo>
                  <a:pt x="17013" y="6071"/>
                </a:moveTo>
                <a:cubicBezTo>
                  <a:pt x="19258" y="6071"/>
                  <a:pt x="19485" y="7803"/>
                  <a:pt x="19485" y="9932"/>
                </a:cubicBezTo>
                <a:cubicBezTo>
                  <a:pt x="19485" y="12067"/>
                  <a:pt x="18379" y="13799"/>
                  <a:pt x="17013" y="13799"/>
                </a:cubicBezTo>
                <a:cubicBezTo>
                  <a:pt x="15647" y="13799"/>
                  <a:pt x="14537" y="12067"/>
                  <a:pt x="14537" y="9932"/>
                </a:cubicBezTo>
                <a:cubicBezTo>
                  <a:pt x="14537" y="9810"/>
                  <a:pt x="14537" y="9687"/>
                  <a:pt x="14542" y="9565"/>
                </a:cubicBezTo>
                <a:cubicBezTo>
                  <a:pt x="14407" y="9705"/>
                  <a:pt x="14285" y="9885"/>
                  <a:pt x="14222" y="10113"/>
                </a:cubicBezTo>
                <a:cubicBezTo>
                  <a:pt x="14130" y="10434"/>
                  <a:pt x="14180" y="10819"/>
                  <a:pt x="14365" y="11256"/>
                </a:cubicBezTo>
                <a:cubicBezTo>
                  <a:pt x="14428" y="11279"/>
                  <a:pt x="14487" y="11332"/>
                  <a:pt x="14525" y="11413"/>
                </a:cubicBezTo>
                <a:lnTo>
                  <a:pt x="14626" y="11618"/>
                </a:lnTo>
                <a:cubicBezTo>
                  <a:pt x="14672" y="11705"/>
                  <a:pt x="14689" y="11810"/>
                  <a:pt x="14676" y="11921"/>
                </a:cubicBezTo>
                <a:cubicBezTo>
                  <a:pt x="14663" y="12026"/>
                  <a:pt x="14617" y="12119"/>
                  <a:pt x="14554" y="12177"/>
                </a:cubicBezTo>
                <a:cubicBezTo>
                  <a:pt x="14508" y="12224"/>
                  <a:pt x="14449" y="12253"/>
                  <a:pt x="14390" y="12253"/>
                </a:cubicBezTo>
                <a:cubicBezTo>
                  <a:pt x="14294" y="12253"/>
                  <a:pt x="14205" y="12189"/>
                  <a:pt x="14151" y="12078"/>
                </a:cubicBezTo>
                <a:lnTo>
                  <a:pt x="14046" y="11874"/>
                </a:lnTo>
                <a:cubicBezTo>
                  <a:pt x="13999" y="11775"/>
                  <a:pt x="13987" y="11658"/>
                  <a:pt x="14004" y="11553"/>
                </a:cubicBezTo>
                <a:cubicBezTo>
                  <a:pt x="13747" y="10959"/>
                  <a:pt x="13688" y="10399"/>
                  <a:pt x="13827" y="9897"/>
                </a:cubicBezTo>
                <a:cubicBezTo>
                  <a:pt x="13970" y="9384"/>
                  <a:pt x="14298" y="9051"/>
                  <a:pt x="14571" y="8847"/>
                </a:cubicBezTo>
                <a:cubicBezTo>
                  <a:pt x="14680" y="7243"/>
                  <a:pt x="15159" y="6071"/>
                  <a:pt x="17013" y="6071"/>
                </a:cubicBezTo>
                <a:close/>
                <a:moveTo>
                  <a:pt x="8928" y="4301"/>
                </a:moveTo>
                <a:cubicBezTo>
                  <a:pt x="9058" y="4296"/>
                  <a:pt x="9184" y="4389"/>
                  <a:pt x="9251" y="4546"/>
                </a:cubicBezTo>
                <a:lnTo>
                  <a:pt x="10471" y="7422"/>
                </a:lnTo>
                <a:lnTo>
                  <a:pt x="13267" y="7422"/>
                </a:lnTo>
                <a:cubicBezTo>
                  <a:pt x="13464" y="7422"/>
                  <a:pt x="13628" y="7649"/>
                  <a:pt x="13628" y="7929"/>
                </a:cubicBezTo>
                <a:cubicBezTo>
                  <a:pt x="13628" y="8209"/>
                  <a:pt x="13464" y="8437"/>
                  <a:pt x="13267" y="8437"/>
                </a:cubicBezTo>
                <a:lnTo>
                  <a:pt x="10265" y="8437"/>
                </a:lnTo>
                <a:cubicBezTo>
                  <a:pt x="10134" y="8437"/>
                  <a:pt x="10012" y="8338"/>
                  <a:pt x="9949" y="8186"/>
                </a:cubicBezTo>
                <a:lnTo>
                  <a:pt x="8957" y="5847"/>
                </a:lnTo>
                <a:lnTo>
                  <a:pt x="7166" y="10601"/>
                </a:lnTo>
                <a:cubicBezTo>
                  <a:pt x="7107" y="10752"/>
                  <a:pt x="7002" y="10852"/>
                  <a:pt x="6880" y="10869"/>
                </a:cubicBezTo>
                <a:cubicBezTo>
                  <a:pt x="6867" y="10869"/>
                  <a:pt x="6855" y="10875"/>
                  <a:pt x="6842" y="10875"/>
                </a:cubicBezTo>
                <a:cubicBezTo>
                  <a:pt x="6733" y="10875"/>
                  <a:pt x="6628" y="10805"/>
                  <a:pt x="6556" y="10682"/>
                </a:cubicBezTo>
                <a:lnTo>
                  <a:pt x="5265" y="8437"/>
                </a:lnTo>
                <a:lnTo>
                  <a:pt x="2696" y="8437"/>
                </a:lnTo>
                <a:cubicBezTo>
                  <a:pt x="2495" y="8437"/>
                  <a:pt x="2331" y="8209"/>
                  <a:pt x="2331" y="7929"/>
                </a:cubicBezTo>
                <a:cubicBezTo>
                  <a:pt x="2331" y="7649"/>
                  <a:pt x="2495" y="7422"/>
                  <a:pt x="2696" y="7422"/>
                </a:cubicBezTo>
                <a:lnTo>
                  <a:pt x="5442" y="7422"/>
                </a:lnTo>
                <a:cubicBezTo>
                  <a:pt x="5551" y="7422"/>
                  <a:pt x="5656" y="7492"/>
                  <a:pt x="5728" y="7614"/>
                </a:cubicBezTo>
                <a:lnTo>
                  <a:pt x="6779" y="9446"/>
                </a:lnTo>
                <a:lnTo>
                  <a:pt x="8612" y="4570"/>
                </a:lnTo>
                <a:cubicBezTo>
                  <a:pt x="8675" y="4406"/>
                  <a:pt x="8793" y="4307"/>
                  <a:pt x="8928" y="4301"/>
                </a:cubicBezTo>
                <a:close/>
                <a:moveTo>
                  <a:pt x="488" y="0"/>
                </a:moveTo>
                <a:lnTo>
                  <a:pt x="17585" y="0"/>
                </a:lnTo>
                <a:cubicBezTo>
                  <a:pt x="17854" y="0"/>
                  <a:pt x="18069" y="303"/>
                  <a:pt x="18069" y="676"/>
                </a:cubicBezTo>
                <a:lnTo>
                  <a:pt x="18069" y="5161"/>
                </a:lnTo>
                <a:cubicBezTo>
                  <a:pt x="17728" y="5044"/>
                  <a:pt x="17346" y="4986"/>
                  <a:pt x="16921" y="4986"/>
                </a:cubicBezTo>
                <a:cubicBezTo>
                  <a:pt x="16774" y="4986"/>
                  <a:pt x="16631" y="4992"/>
                  <a:pt x="16492" y="5003"/>
                </a:cubicBezTo>
                <a:lnTo>
                  <a:pt x="16492" y="1872"/>
                </a:lnTo>
                <a:lnTo>
                  <a:pt x="1577" y="1872"/>
                </a:lnTo>
                <a:lnTo>
                  <a:pt x="1577" y="14695"/>
                </a:lnTo>
                <a:lnTo>
                  <a:pt x="12880" y="14695"/>
                </a:lnTo>
                <a:cubicBezTo>
                  <a:pt x="12644" y="15145"/>
                  <a:pt x="12434" y="15803"/>
                  <a:pt x="12253" y="16567"/>
                </a:cubicBezTo>
                <a:lnTo>
                  <a:pt x="11543" y="16567"/>
                </a:lnTo>
                <a:cubicBezTo>
                  <a:pt x="11602" y="17057"/>
                  <a:pt x="11703" y="17757"/>
                  <a:pt x="11867" y="18544"/>
                </a:cubicBezTo>
                <a:cubicBezTo>
                  <a:pt x="11732" y="19367"/>
                  <a:pt x="11623" y="20206"/>
                  <a:pt x="11534" y="20964"/>
                </a:cubicBezTo>
                <a:cubicBezTo>
                  <a:pt x="11509" y="21180"/>
                  <a:pt x="11526" y="21396"/>
                  <a:pt x="11572" y="21600"/>
                </a:cubicBezTo>
                <a:lnTo>
                  <a:pt x="6093" y="21600"/>
                </a:lnTo>
                <a:cubicBezTo>
                  <a:pt x="5925" y="21600"/>
                  <a:pt x="5773" y="21483"/>
                  <a:pt x="5681" y="21291"/>
                </a:cubicBezTo>
                <a:cubicBezTo>
                  <a:pt x="5593" y="21093"/>
                  <a:pt x="5580" y="20854"/>
                  <a:pt x="5652" y="20644"/>
                </a:cubicBezTo>
                <a:cubicBezTo>
                  <a:pt x="6173" y="19063"/>
                  <a:pt x="6421" y="17465"/>
                  <a:pt x="6526" y="16567"/>
                </a:cubicBezTo>
                <a:lnTo>
                  <a:pt x="488" y="16567"/>
                </a:lnTo>
                <a:cubicBezTo>
                  <a:pt x="219" y="16567"/>
                  <a:pt x="0" y="16264"/>
                  <a:pt x="0" y="15891"/>
                </a:cubicBezTo>
                <a:lnTo>
                  <a:pt x="0" y="676"/>
                </a:lnTo>
                <a:cubicBezTo>
                  <a:pt x="0" y="303"/>
                  <a:pt x="219" y="0"/>
                  <a:pt x="488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88" name="dollar-bag_17794">
            <a:extLst>
              <a:ext uri="{FF2B5EF4-FFF2-40B4-BE49-F238E27FC236}">
                <a16:creationId xmlns:a16="http://schemas.microsoft.com/office/drawing/2014/main" id="{2EAA12AA-1292-01B9-A4A4-F14A3562CEB2}"/>
              </a:ext>
            </a:extLst>
          </p:cNvPr>
          <p:cNvSpPr/>
          <p:nvPr/>
        </p:nvSpPr>
        <p:spPr>
          <a:xfrm>
            <a:off x="6572267" y="2145768"/>
            <a:ext cx="494048" cy="4208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800" y="4695"/>
                </a:moveTo>
                <a:lnTo>
                  <a:pt x="19201" y="4695"/>
                </a:lnTo>
                <a:lnTo>
                  <a:pt x="19201" y="6573"/>
                </a:lnTo>
                <a:cubicBezTo>
                  <a:pt x="19201" y="7092"/>
                  <a:pt x="18842" y="7512"/>
                  <a:pt x="18400" y="7512"/>
                </a:cubicBezTo>
                <a:cubicBezTo>
                  <a:pt x="17960" y="7512"/>
                  <a:pt x="17600" y="7092"/>
                  <a:pt x="17600" y="6573"/>
                </a:cubicBezTo>
                <a:lnTo>
                  <a:pt x="17600" y="4695"/>
                </a:lnTo>
                <a:lnTo>
                  <a:pt x="16001" y="4695"/>
                </a:lnTo>
                <a:cubicBezTo>
                  <a:pt x="15559" y="4695"/>
                  <a:pt x="15200" y="4274"/>
                  <a:pt x="15200" y="3757"/>
                </a:cubicBezTo>
                <a:cubicBezTo>
                  <a:pt x="15200" y="3238"/>
                  <a:pt x="15559" y="2816"/>
                  <a:pt x="16001" y="2816"/>
                </a:cubicBezTo>
                <a:lnTo>
                  <a:pt x="17600" y="2816"/>
                </a:lnTo>
                <a:lnTo>
                  <a:pt x="17600" y="939"/>
                </a:lnTo>
                <a:cubicBezTo>
                  <a:pt x="17600" y="420"/>
                  <a:pt x="17960" y="0"/>
                  <a:pt x="18400" y="0"/>
                </a:cubicBezTo>
                <a:cubicBezTo>
                  <a:pt x="18842" y="0"/>
                  <a:pt x="19201" y="420"/>
                  <a:pt x="19201" y="939"/>
                </a:cubicBezTo>
                <a:lnTo>
                  <a:pt x="19201" y="2816"/>
                </a:lnTo>
                <a:lnTo>
                  <a:pt x="20800" y="2816"/>
                </a:lnTo>
                <a:cubicBezTo>
                  <a:pt x="21242" y="2816"/>
                  <a:pt x="21600" y="3238"/>
                  <a:pt x="21600" y="3757"/>
                </a:cubicBezTo>
                <a:cubicBezTo>
                  <a:pt x="21600" y="4274"/>
                  <a:pt x="21242" y="4695"/>
                  <a:pt x="20800" y="4695"/>
                </a:cubicBezTo>
                <a:close/>
                <a:moveTo>
                  <a:pt x="16001" y="7983"/>
                </a:moveTo>
                <a:cubicBezTo>
                  <a:pt x="16001" y="8759"/>
                  <a:pt x="15463" y="9391"/>
                  <a:pt x="14800" y="9391"/>
                </a:cubicBezTo>
                <a:cubicBezTo>
                  <a:pt x="14139" y="9391"/>
                  <a:pt x="13600" y="8759"/>
                  <a:pt x="13600" y="7983"/>
                </a:cubicBezTo>
                <a:cubicBezTo>
                  <a:pt x="13600" y="7205"/>
                  <a:pt x="14139" y="6573"/>
                  <a:pt x="14800" y="6573"/>
                </a:cubicBezTo>
                <a:cubicBezTo>
                  <a:pt x="15463" y="6573"/>
                  <a:pt x="16001" y="7205"/>
                  <a:pt x="16001" y="7983"/>
                </a:cubicBezTo>
                <a:close/>
                <a:moveTo>
                  <a:pt x="12801" y="4695"/>
                </a:moveTo>
                <a:lnTo>
                  <a:pt x="1599" y="4695"/>
                </a:lnTo>
                <a:lnTo>
                  <a:pt x="1599" y="17784"/>
                </a:lnTo>
                <a:cubicBezTo>
                  <a:pt x="1601" y="17778"/>
                  <a:pt x="3352" y="8569"/>
                  <a:pt x="6350" y="8569"/>
                </a:cubicBezTo>
                <a:cubicBezTo>
                  <a:pt x="8325" y="8569"/>
                  <a:pt x="10334" y="15691"/>
                  <a:pt x="11586" y="17843"/>
                </a:cubicBezTo>
                <a:cubicBezTo>
                  <a:pt x="11586" y="17843"/>
                  <a:pt x="12568" y="13177"/>
                  <a:pt x="14262" y="13148"/>
                </a:cubicBezTo>
                <a:cubicBezTo>
                  <a:pt x="15937" y="13118"/>
                  <a:pt x="16801" y="17784"/>
                  <a:pt x="16801" y="17784"/>
                </a:cubicBezTo>
                <a:lnTo>
                  <a:pt x="17600" y="17784"/>
                </a:lnTo>
                <a:lnTo>
                  <a:pt x="17600" y="12209"/>
                </a:lnTo>
                <a:cubicBezTo>
                  <a:pt x="17600" y="11690"/>
                  <a:pt x="17960" y="11268"/>
                  <a:pt x="18400" y="11268"/>
                </a:cubicBezTo>
                <a:cubicBezTo>
                  <a:pt x="18842" y="11268"/>
                  <a:pt x="19201" y="11690"/>
                  <a:pt x="19201" y="12209"/>
                </a:cubicBezTo>
                <a:lnTo>
                  <a:pt x="19201" y="19723"/>
                </a:lnTo>
                <a:cubicBezTo>
                  <a:pt x="19201" y="20760"/>
                  <a:pt x="18484" y="21600"/>
                  <a:pt x="17600" y="21600"/>
                </a:cubicBezTo>
                <a:lnTo>
                  <a:pt x="1599" y="21600"/>
                </a:lnTo>
                <a:cubicBezTo>
                  <a:pt x="715" y="21600"/>
                  <a:pt x="0" y="20760"/>
                  <a:pt x="0" y="19723"/>
                </a:cubicBezTo>
                <a:lnTo>
                  <a:pt x="0" y="4695"/>
                </a:lnTo>
                <a:cubicBezTo>
                  <a:pt x="0" y="3658"/>
                  <a:pt x="715" y="2816"/>
                  <a:pt x="1599" y="2816"/>
                </a:cubicBezTo>
                <a:lnTo>
                  <a:pt x="12801" y="2816"/>
                </a:lnTo>
                <a:cubicBezTo>
                  <a:pt x="13243" y="2816"/>
                  <a:pt x="13600" y="3238"/>
                  <a:pt x="13600" y="3757"/>
                </a:cubicBezTo>
                <a:cubicBezTo>
                  <a:pt x="13600" y="4274"/>
                  <a:pt x="13243" y="4695"/>
                  <a:pt x="12801" y="4695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89" name="dollar-bag_17794">
            <a:extLst>
              <a:ext uri="{FF2B5EF4-FFF2-40B4-BE49-F238E27FC236}">
                <a16:creationId xmlns:a16="http://schemas.microsoft.com/office/drawing/2014/main" id="{68EF10B8-DC55-B756-219D-CFF38F2B9648}"/>
              </a:ext>
            </a:extLst>
          </p:cNvPr>
          <p:cNvSpPr/>
          <p:nvPr/>
        </p:nvSpPr>
        <p:spPr>
          <a:xfrm>
            <a:off x="7954526" y="3206212"/>
            <a:ext cx="416079" cy="494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04" y="2291"/>
                </a:moveTo>
                <a:lnTo>
                  <a:pt x="13504" y="15927"/>
                </a:lnTo>
                <a:lnTo>
                  <a:pt x="8096" y="15927"/>
                </a:lnTo>
                <a:lnTo>
                  <a:pt x="8096" y="2291"/>
                </a:lnTo>
                <a:cubicBezTo>
                  <a:pt x="8096" y="1655"/>
                  <a:pt x="8361" y="1113"/>
                  <a:pt x="8889" y="668"/>
                </a:cubicBezTo>
                <a:cubicBezTo>
                  <a:pt x="9420" y="223"/>
                  <a:pt x="10051" y="0"/>
                  <a:pt x="10784" y="0"/>
                </a:cubicBezTo>
                <a:cubicBezTo>
                  <a:pt x="11541" y="0"/>
                  <a:pt x="12182" y="223"/>
                  <a:pt x="12711" y="668"/>
                </a:cubicBezTo>
                <a:cubicBezTo>
                  <a:pt x="13241" y="1113"/>
                  <a:pt x="13504" y="1655"/>
                  <a:pt x="13504" y="2291"/>
                </a:cubicBezTo>
                <a:close/>
                <a:moveTo>
                  <a:pt x="20240" y="6818"/>
                </a:moveTo>
                <a:lnTo>
                  <a:pt x="20240" y="15927"/>
                </a:lnTo>
                <a:lnTo>
                  <a:pt x="14832" y="15927"/>
                </a:lnTo>
                <a:lnTo>
                  <a:pt x="14832" y="6818"/>
                </a:lnTo>
                <a:cubicBezTo>
                  <a:pt x="14832" y="6199"/>
                  <a:pt x="15097" y="5668"/>
                  <a:pt x="15625" y="5223"/>
                </a:cubicBezTo>
                <a:cubicBezTo>
                  <a:pt x="16155" y="4778"/>
                  <a:pt x="16797" y="4555"/>
                  <a:pt x="17552" y="4555"/>
                </a:cubicBezTo>
                <a:cubicBezTo>
                  <a:pt x="18287" y="4555"/>
                  <a:pt x="18918" y="4773"/>
                  <a:pt x="19446" y="5209"/>
                </a:cubicBezTo>
                <a:cubicBezTo>
                  <a:pt x="19977" y="5645"/>
                  <a:pt x="20240" y="6182"/>
                  <a:pt x="20240" y="6818"/>
                </a:cubicBezTo>
                <a:close/>
                <a:moveTo>
                  <a:pt x="6736" y="10227"/>
                </a:moveTo>
                <a:lnTo>
                  <a:pt x="6736" y="15927"/>
                </a:lnTo>
                <a:lnTo>
                  <a:pt x="1360" y="15927"/>
                </a:lnTo>
                <a:lnTo>
                  <a:pt x="1360" y="10227"/>
                </a:lnTo>
                <a:cubicBezTo>
                  <a:pt x="1360" y="9609"/>
                  <a:pt x="1619" y="9077"/>
                  <a:pt x="2137" y="8632"/>
                </a:cubicBezTo>
                <a:cubicBezTo>
                  <a:pt x="2655" y="8187"/>
                  <a:pt x="3293" y="7964"/>
                  <a:pt x="4048" y="7964"/>
                </a:cubicBezTo>
                <a:cubicBezTo>
                  <a:pt x="4805" y="7964"/>
                  <a:pt x="5440" y="8187"/>
                  <a:pt x="5959" y="8632"/>
                </a:cubicBezTo>
                <a:cubicBezTo>
                  <a:pt x="6477" y="9077"/>
                  <a:pt x="6736" y="9609"/>
                  <a:pt x="6736" y="10227"/>
                </a:cubicBezTo>
                <a:close/>
                <a:moveTo>
                  <a:pt x="20240" y="19336"/>
                </a:moveTo>
                <a:cubicBezTo>
                  <a:pt x="20608" y="19336"/>
                  <a:pt x="20926" y="19445"/>
                  <a:pt x="21195" y="19664"/>
                </a:cubicBezTo>
                <a:cubicBezTo>
                  <a:pt x="21466" y="19882"/>
                  <a:pt x="21600" y="20146"/>
                  <a:pt x="21600" y="20455"/>
                </a:cubicBezTo>
                <a:cubicBezTo>
                  <a:pt x="21600" y="20763"/>
                  <a:pt x="21466" y="21032"/>
                  <a:pt x="21195" y="21259"/>
                </a:cubicBezTo>
                <a:cubicBezTo>
                  <a:pt x="20926" y="21486"/>
                  <a:pt x="20608" y="21600"/>
                  <a:pt x="20240" y="21600"/>
                </a:cubicBezTo>
                <a:lnTo>
                  <a:pt x="1360" y="21600"/>
                </a:lnTo>
                <a:cubicBezTo>
                  <a:pt x="994" y="21600"/>
                  <a:pt x="676" y="21486"/>
                  <a:pt x="405" y="21259"/>
                </a:cubicBezTo>
                <a:cubicBezTo>
                  <a:pt x="136" y="21032"/>
                  <a:pt x="0" y="20763"/>
                  <a:pt x="0" y="20455"/>
                </a:cubicBezTo>
                <a:cubicBezTo>
                  <a:pt x="0" y="20146"/>
                  <a:pt x="136" y="19882"/>
                  <a:pt x="405" y="19664"/>
                </a:cubicBezTo>
                <a:cubicBezTo>
                  <a:pt x="676" y="19445"/>
                  <a:pt x="994" y="19336"/>
                  <a:pt x="1360" y="19336"/>
                </a:cubicBezTo>
                <a:lnTo>
                  <a:pt x="20240" y="1933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90" name="dollar-bag_17794">
            <a:extLst>
              <a:ext uri="{FF2B5EF4-FFF2-40B4-BE49-F238E27FC236}">
                <a16:creationId xmlns:a16="http://schemas.microsoft.com/office/drawing/2014/main" id="{FDB4C727-2DC9-F540-3C85-66B9B6EE2F70}"/>
              </a:ext>
            </a:extLst>
          </p:cNvPr>
          <p:cNvSpPr/>
          <p:nvPr/>
        </p:nvSpPr>
        <p:spPr>
          <a:xfrm>
            <a:off x="8408955" y="4870808"/>
            <a:ext cx="494048" cy="411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1" y="19023"/>
                </a:moveTo>
                <a:lnTo>
                  <a:pt x="2160" y="19023"/>
                </a:lnTo>
                <a:lnTo>
                  <a:pt x="2160" y="6898"/>
                </a:lnTo>
                <a:lnTo>
                  <a:pt x="5395" y="6898"/>
                </a:lnTo>
                <a:cubicBezTo>
                  <a:pt x="5395" y="6898"/>
                  <a:pt x="6189" y="5568"/>
                  <a:pt x="7797" y="4318"/>
                </a:cubicBezTo>
                <a:lnTo>
                  <a:pt x="1080" y="4318"/>
                </a:lnTo>
                <a:cubicBezTo>
                  <a:pt x="484" y="4318"/>
                  <a:pt x="0" y="4891"/>
                  <a:pt x="0" y="5608"/>
                </a:cubicBezTo>
                <a:lnTo>
                  <a:pt x="0" y="20310"/>
                </a:lnTo>
                <a:cubicBezTo>
                  <a:pt x="0" y="21019"/>
                  <a:pt x="484" y="21600"/>
                  <a:pt x="1080" y="21600"/>
                </a:cubicBezTo>
                <a:lnTo>
                  <a:pt x="17281" y="21600"/>
                </a:lnTo>
                <a:cubicBezTo>
                  <a:pt x="17877" y="21600"/>
                  <a:pt x="18361" y="21027"/>
                  <a:pt x="18361" y="20310"/>
                </a:cubicBezTo>
                <a:lnTo>
                  <a:pt x="18361" y="12957"/>
                </a:lnTo>
                <a:lnTo>
                  <a:pt x="16201" y="15077"/>
                </a:lnTo>
                <a:lnTo>
                  <a:pt x="16201" y="19023"/>
                </a:lnTo>
                <a:close/>
                <a:moveTo>
                  <a:pt x="14401" y="8637"/>
                </a:moveTo>
                <a:lnTo>
                  <a:pt x="14401" y="12949"/>
                </a:lnTo>
                <a:lnTo>
                  <a:pt x="21600" y="6505"/>
                </a:lnTo>
                <a:lnTo>
                  <a:pt x="14401" y="0"/>
                </a:lnTo>
                <a:lnTo>
                  <a:pt x="14401" y="4029"/>
                </a:lnTo>
                <a:cubicBezTo>
                  <a:pt x="5692" y="4029"/>
                  <a:pt x="5400" y="15115"/>
                  <a:pt x="5400" y="15115"/>
                </a:cubicBezTo>
                <a:cubicBezTo>
                  <a:pt x="7864" y="10291"/>
                  <a:pt x="9675" y="8637"/>
                  <a:pt x="14401" y="8637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94" name="矩形 35">
            <a:extLst>
              <a:ext uri="{FF2B5EF4-FFF2-40B4-BE49-F238E27FC236}">
                <a16:creationId xmlns:a16="http://schemas.microsoft.com/office/drawing/2014/main" id="{28827987-9462-9202-9E1E-9BB331974F1B}"/>
              </a:ext>
            </a:extLst>
          </p:cNvPr>
          <p:cNvSpPr txBox="1"/>
          <p:nvPr/>
        </p:nvSpPr>
        <p:spPr>
          <a:xfrm>
            <a:off x="1895136" y="3389516"/>
            <a:ext cx="1403290" cy="24622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r"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本科二年级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595" name="矩形 35">
            <a:extLst>
              <a:ext uri="{FF2B5EF4-FFF2-40B4-BE49-F238E27FC236}">
                <a16:creationId xmlns:a16="http://schemas.microsoft.com/office/drawing/2014/main" id="{BBE3C197-96CB-BF35-F7EE-403E9C90D52B}"/>
              </a:ext>
            </a:extLst>
          </p:cNvPr>
          <p:cNvSpPr txBox="1"/>
          <p:nvPr/>
        </p:nvSpPr>
        <p:spPr>
          <a:xfrm>
            <a:off x="3054900" y="2277268"/>
            <a:ext cx="1403290" cy="24622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r"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计算机科学与技术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596" name="矩形 35">
            <a:extLst>
              <a:ext uri="{FF2B5EF4-FFF2-40B4-BE49-F238E27FC236}">
                <a16:creationId xmlns:a16="http://schemas.microsoft.com/office/drawing/2014/main" id="{CF91E5D7-E586-0D41-D600-5440E9CB5460}"/>
              </a:ext>
            </a:extLst>
          </p:cNvPr>
          <p:cNvSpPr txBox="1"/>
          <p:nvPr/>
        </p:nvSpPr>
        <p:spPr>
          <a:xfrm>
            <a:off x="7719486" y="2277268"/>
            <a:ext cx="1605041" cy="553998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kumimoji="1" lang="en-US" altLang="zh-CN" sz="1000" b="0" dirty="0" err="1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微软雅黑" panose="020B0503020204020204" pitchFamily="34" charset="-122"/>
                <a:cs typeface="Source Han Sans"/>
              </a:rPr>
              <a:t>模拟芯片设计、数字</a:t>
            </a:r>
            <a:r>
              <a:rPr kumimoji="1" lang="en-US" altLang="zh-CN" sz="1000" b="0" dirty="0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微软雅黑" panose="020B0503020204020204" pitchFamily="34" charset="-122"/>
                <a:cs typeface="Source Han Sans"/>
              </a:rPr>
              <a:t> SoC </a:t>
            </a:r>
            <a:r>
              <a:rPr kumimoji="1" lang="en-US" altLang="zh-CN" sz="1000" b="0" dirty="0" err="1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微软雅黑" panose="020B0503020204020204" pitchFamily="34" charset="-122"/>
                <a:cs typeface="Source Han Sans"/>
              </a:rPr>
              <a:t>芯片设计、</a:t>
            </a:r>
            <a:r>
              <a:rPr kumimoji="1" lang="en-US" altLang="zh-CN" sz="1000" b="0" dirty="0" err="1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微软雅黑" panose="020B0503020204020204" pitchFamily="34" charset="-122"/>
                <a:cs typeface="Source Han Sans"/>
                <a:sym typeface="+mn-ea"/>
              </a:rPr>
              <a:t>嵌入式系统开发、</a:t>
            </a:r>
            <a:r>
              <a:rPr kumimoji="1" lang="en-US" altLang="zh-CN" sz="1000" b="0" dirty="0" err="1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微软雅黑" panose="020B0503020204020204" pitchFamily="34" charset="-122"/>
                <a:cs typeface="Source Han Sans"/>
              </a:rPr>
              <a:t>EDA</a:t>
            </a:r>
            <a:r>
              <a:rPr kumimoji="1" lang="en-US" altLang="zh-CN" sz="1000" b="0" dirty="0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微软雅黑" panose="020B0503020204020204" pitchFamily="34" charset="-122"/>
                <a:cs typeface="Source Han Sans"/>
              </a:rPr>
              <a:t> </a:t>
            </a:r>
            <a:r>
              <a:rPr kumimoji="1" lang="en-US" altLang="zh-CN" sz="1000" b="0" dirty="0" err="1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微软雅黑" panose="020B0503020204020204" pitchFamily="34" charset="-122"/>
                <a:cs typeface="Source Han Sans"/>
              </a:rPr>
              <a:t>设计、软件开发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597" name="矩形 35">
            <a:extLst>
              <a:ext uri="{FF2B5EF4-FFF2-40B4-BE49-F238E27FC236}">
                <a16:creationId xmlns:a16="http://schemas.microsoft.com/office/drawing/2014/main" id="{FBF95296-EBAE-A4BD-E578-3B4C9654C335}"/>
              </a:ext>
            </a:extLst>
          </p:cNvPr>
          <p:cNvSpPr txBox="1"/>
          <p:nvPr/>
        </p:nvSpPr>
        <p:spPr>
          <a:xfrm>
            <a:off x="8998837" y="3389516"/>
            <a:ext cx="1719265" cy="553998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kumimoji="1" lang="en-US" altLang="zh-CN" sz="1000" b="0" dirty="0">
                <a:ln w="12700">
                  <a:noFill/>
                </a:ln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cs typeface="Source Han Sans"/>
              </a:rPr>
              <a:t>在</a:t>
            </a:r>
            <a:r>
              <a:rPr kumimoji="1" lang="zh-CN" altLang="en-US" sz="1000" b="0" dirty="0">
                <a:ln w="12700">
                  <a:noFill/>
                </a:ln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cs typeface="Source Han Sans"/>
              </a:rPr>
              <a:t>嵌入式开发方面</a:t>
            </a:r>
            <a:r>
              <a:rPr kumimoji="1" lang="en-US" altLang="zh-CN" sz="1000" b="0" dirty="0" err="1">
                <a:ln w="12700">
                  <a:noFill/>
                </a:ln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cs typeface="Source Han Sans"/>
              </a:rPr>
              <a:t>有丰富</a:t>
            </a:r>
            <a:r>
              <a:rPr kumimoji="1" lang="zh-CN" altLang="en-US" sz="1000" b="0" dirty="0">
                <a:ln w="12700">
                  <a:noFill/>
                </a:ln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cs typeface="Source Han Sans"/>
              </a:rPr>
              <a:t>的项目</a:t>
            </a:r>
            <a:r>
              <a:rPr kumimoji="1" lang="en-US" altLang="zh-CN" sz="1000" b="0" dirty="0" err="1">
                <a:ln w="12700">
                  <a:noFill/>
                </a:ln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cs typeface="Source Han Sans"/>
              </a:rPr>
              <a:t>经验，熟悉</a:t>
            </a:r>
            <a:r>
              <a:rPr kumimoji="1" lang="en-US" altLang="zh-CN" sz="1000" b="0" dirty="0">
                <a:ln w="12700">
                  <a:noFill/>
                </a:ln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cs typeface="Source Han Sans"/>
              </a:rPr>
              <a:t> EDA </a:t>
            </a:r>
            <a:r>
              <a:rPr kumimoji="1" lang="en-US" altLang="zh-CN" sz="1000" b="0" dirty="0" err="1">
                <a:ln w="12700">
                  <a:noFill/>
                </a:ln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cs typeface="Source Han Sans"/>
              </a:rPr>
              <a:t>工具链</a:t>
            </a:r>
            <a:r>
              <a:rPr kumimoji="1" lang="zh-CN" altLang="en-US" sz="1000" b="0" dirty="0">
                <a:ln w="12700">
                  <a:noFill/>
                </a:ln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cs typeface="Source Han Sans"/>
              </a:rPr>
              <a:t>，曾参与开源社区维护工程</a:t>
            </a:r>
            <a:endParaRPr dirty="0">
              <a:solidFill>
                <a:schemeClr val="bg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98" name="矩形 35">
            <a:extLst>
              <a:ext uri="{FF2B5EF4-FFF2-40B4-BE49-F238E27FC236}">
                <a16:creationId xmlns:a16="http://schemas.microsoft.com/office/drawing/2014/main" id="{DB836263-8786-50BA-238A-9DE77F63863C}"/>
              </a:ext>
            </a:extLst>
          </p:cNvPr>
          <p:cNvSpPr txBox="1"/>
          <p:nvPr/>
        </p:nvSpPr>
        <p:spPr>
          <a:xfrm>
            <a:off x="9302573" y="4913219"/>
            <a:ext cx="1403291" cy="40011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在片上运行</a:t>
            </a:r>
            <a:r>
              <a:rPr lang="en-US" altLang="zh-CN" dirty="0">
                <a:latin typeface="+mj-ea"/>
                <a:ea typeface="+mj-ea"/>
              </a:rPr>
              <a:t>la32r-Linux</a:t>
            </a:r>
            <a:r>
              <a:rPr lang="zh-CN" altLang="en-US" dirty="0">
                <a:latin typeface="+mj-ea"/>
                <a:ea typeface="+mj-ea"/>
              </a:rPr>
              <a:t>内核的</a:t>
            </a:r>
            <a:r>
              <a:rPr lang="en-US" altLang="zh-CN" dirty="0" err="1">
                <a:latin typeface="+mj-ea"/>
                <a:ea typeface="+mj-ea"/>
              </a:rPr>
              <a:t>linux</a:t>
            </a:r>
            <a:r>
              <a:rPr lang="zh-CN" altLang="en-US" dirty="0">
                <a:latin typeface="+mj-ea"/>
                <a:ea typeface="+mj-ea"/>
              </a:rPr>
              <a:t>系统</a:t>
            </a:r>
            <a:endParaRPr dirty="0">
              <a:latin typeface="HarmonyOS Sans SC Light" panose="00000400000000000000" charset="-122"/>
              <a:ea typeface="HarmonyOS Sans SC Light" panose="00000400000000000000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6220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681605" y="2880000"/>
            <a:ext cx="682879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dirty="0">
                <a:solidFill>
                  <a:srgbClr val="142DA8"/>
                </a:solidFill>
                <a:latin typeface="+mj-ea"/>
                <a:ea typeface="+mj-ea"/>
              </a:rPr>
              <a:t>开发过程总结</a:t>
            </a: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5645785" y="1800000"/>
            <a:ext cx="900000" cy="900000"/>
          </a:xfrm>
          <a:prstGeom prst="rect">
            <a:avLst/>
          </a:prstGeom>
          <a:solidFill>
            <a:srgbClr val="004CE5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HarmonyOS Sans SC Black" panose="00000A00000000000000" charset="-122"/>
                <a:ea typeface="HarmonyOS Sans SC Black" panose="00000A00000000000000" charset="-122"/>
              </a:rPr>
              <a:t>2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2" name="流程图: 离页连接符 1">
            <a:extLst>
              <a:ext uri="{FF2B5EF4-FFF2-40B4-BE49-F238E27FC236}">
                <a16:creationId xmlns:a16="http://schemas.microsoft.com/office/drawing/2014/main" id="{17DD1B9B-7E43-632B-1EB3-26B85535A64A}"/>
              </a:ext>
            </a:extLst>
          </p:cNvPr>
          <p:cNvSpPr/>
          <p:nvPr/>
        </p:nvSpPr>
        <p:spPr>
          <a:xfrm>
            <a:off x="2840476" y="1420236"/>
            <a:ext cx="885217" cy="1916349"/>
          </a:xfrm>
          <a:prstGeom prst="flowChartOffpage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流程图: 离页连接符 3">
            <a:extLst>
              <a:ext uri="{FF2B5EF4-FFF2-40B4-BE49-F238E27FC236}">
                <a16:creationId xmlns:a16="http://schemas.microsoft.com/office/drawing/2014/main" id="{63BBC612-ADA2-8C65-2FC1-1CDD7DDA3EDB}"/>
              </a:ext>
            </a:extLst>
          </p:cNvPr>
          <p:cNvSpPr/>
          <p:nvPr/>
        </p:nvSpPr>
        <p:spPr>
          <a:xfrm rot="10800000">
            <a:off x="4597939" y="3868367"/>
            <a:ext cx="885217" cy="1916349"/>
          </a:xfrm>
          <a:prstGeom prst="flowChartOffpage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流程图: 离页连接符 4">
            <a:extLst>
              <a:ext uri="{FF2B5EF4-FFF2-40B4-BE49-F238E27FC236}">
                <a16:creationId xmlns:a16="http://schemas.microsoft.com/office/drawing/2014/main" id="{D5D046BC-C15F-FBFF-5C7F-10D7CDF93CD0}"/>
              </a:ext>
            </a:extLst>
          </p:cNvPr>
          <p:cNvSpPr/>
          <p:nvPr/>
        </p:nvSpPr>
        <p:spPr>
          <a:xfrm rot="10800000">
            <a:off x="8164749" y="3868366"/>
            <a:ext cx="885217" cy="1916349"/>
          </a:xfrm>
          <a:prstGeom prst="flowChartOffpage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流程图: 离页连接符 5">
            <a:extLst>
              <a:ext uri="{FF2B5EF4-FFF2-40B4-BE49-F238E27FC236}">
                <a16:creationId xmlns:a16="http://schemas.microsoft.com/office/drawing/2014/main" id="{AC594045-9BC4-B3FC-CA0E-5F5F2C21010E}"/>
              </a:ext>
            </a:extLst>
          </p:cNvPr>
          <p:cNvSpPr/>
          <p:nvPr/>
        </p:nvSpPr>
        <p:spPr>
          <a:xfrm>
            <a:off x="6407286" y="1420235"/>
            <a:ext cx="885217" cy="1916349"/>
          </a:xfrm>
          <a:prstGeom prst="flowChartOffpage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DDCFA7-A062-6BCA-41EF-1D8AE07D75B2}"/>
              </a:ext>
            </a:extLst>
          </p:cNvPr>
          <p:cNvSpPr txBox="1"/>
          <p:nvPr/>
        </p:nvSpPr>
        <p:spPr>
          <a:xfrm>
            <a:off x="3054484" y="1663430"/>
            <a:ext cx="45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1C2EAC"/>
                </a:solidFill>
              </a:rPr>
              <a:t>环境搭建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CD6673-FCD5-6EA2-638C-038F42C01357}"/>
              </a:ext>
            </a:extLst>
          </p:cNvPr>
          <p:cNvSpPr txBox="1"/>
          <p:nvPr/>
        </p:nvSpPr>
        <p:spPr>
          <a:xfrm>
            <a:off x="6621294" y="1663430"/>
            <a:ext cx="45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1C2EAC"/>
                </a:solidFill>
              </a:rPr>
              <a:t>功能仿真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DD7656C-2EDC-A9F4-9970-E5065F094434}"/>
              </a:ext>
            </a:extLst>
          </p:cNvPr>
          <p:cNvSpPr txBox="1"/>
          <p:nvPr/>
        </p:nvSpPr>
        <p:spPr>
          <a:xfrm>
            <a:off x="4811947" y="4760069"/>
            <a:ext cx="45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1C2EAC"/>
                </a:solidFill>
              </a:rPr>
              <a:t>搭建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E99780A-5697-645C-A7BC-59F5C0B1426D}"/>
              </a:ext>
            </a:extLst>
          </p:cNvPr>
          <p:cNvSpPr txBox="1"/>
          <p:nvPr/>
        </p:nvSpPr>
        <p:spPr>
          <a:xfrm>
            <a:off x="4750337" y="4457209"/>
            <a:ext cx="88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C2EAC"/>
                </a:solidFill>
              </a:rPr>
              <a:t>Soc</a:t>
            </a:r>
            <a:endParaRPr lang="zh-CN" altLang="en-US" dirty="0">
              <a:solidFill>
                <a:srgbClr val="1C2EAC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E61D57-DD9A-26B6-012A-789B832C7251}"/>
              </a:ext>
            </a:extLst>
          </p:cNvPr>
          <p:cNvSpPr txBox="1"/>
          <p:nvPr/>
        </p:nvSpPr>
        <p:spPr>
          <a:xfrm>
            <a:off x="8378757" y="4760069"/>
            <a:ext cx="45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1C2EAC"/>
                </a:solidFill>
              </a:rPr>
              <a:t>仿真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010E493-8B7D-89C1-0E82-28939B12E9D0}"/>
              </a:ext>
            </a:extLst>
          </p:cNvPr>
          <p:cNvSpPr txBox="1"/>
          <p:nvPr/>
        </p:nvSpPr>
        <p:spPr>
          <a:xfrm>
            <a:off x="8164749" y="4457209"/>
            <a:ext cx="88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C2EAC"/>
                </a:solidFill>
              </a:rPr>
              <a:t>FPGA</a:t>
            </a:r>
            <a:endParaRPr lang="zh-CN" altLang="en-US" dirty="0">
              <a:solidFill>
                <a:srgbClr val="1C2EAC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8E5BD1F-E521-CC1A-975D-E368D3DA74EF}"/>
              </a:ext>
            </a:extLst>
          </p:cNvPr>
          <p:cNvSpPr txBox="1"/>
          <p:nvPr/>
        </p:nvSpPr>
        <p:spPr>
          <a:xfrm>
            <a:off x="4597938" y="1571095"/>
            <a:ext cx="13002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j-ea"/>
                <a:ea typeface="+mj-ea"/>
              </a:rPr>
              <a:t>软件安装</a:t>
            </a:r>
            <a:endParaRPr lang="en-US" altLang="zh-CN" sz="1400" dirty="0">
              <a:latin typeface="+mj-ea"/>
              <a:ea typeface="+mj-ea"/>
            </a:endParaRPr>
          </a:p>
          <a:p>
            <a:endParaRPr lang="en-US" altLang="zh-CN" sz="1400" dirty="0">
              <a:latin typeface="+mj-ea"/>
              <a:ea typeface="+mj-ea"/>
            </a:endParaRPr>
          </a:p>
          <a:p>
            <a:endParaRPr lang="en-US" altLang="zh-CN" sz="1400" dirty="0">
              <a:latin typeface="+mj-ea"/>
              <a:ea typeface="+mj-ea"/>
            </a:endParaRPr>
          </a:p>
          <a:p>
            <a:endParaRPr lang="en-US" altLang="zh-CN" sz="1400" dirty="0">
              <a:latin typeface="+mj-ea"/>
              <a:ea typeface="+mj-ea"/>
            </a:endParaRPr>
          </a:p>
          <a:p>
            <a:endParaRPr lang="en-US" altLang="zh-CN" sz="1400" dirty="0">
              <a:latin typeface="+mj-ea"/>
              <a:ea typeface="+mj-ea"/>
            </a:endParaRPr>
          </a:p>
          <a:p>
            <a:r>
              <a:rPr lang="zh-CN" altLang="en-US" sz="1400" dirty="0">
                <a:latin typeface="+mj-ea"/>
                <a:ea typeface="+mj-ea"/>
              </a:rPr>
              <a:t>配置工具链</a:t>
            </a:r>
          </a:p>
        </p:txBody>
      </p:sp>
      <p:sp>
        <p:nvSpPr>
          <p:cNvPr id="15" name="左大括号 14">
            <a:extLst>
              <a:ext uri="{FF2B5EF4-FFF2-40B4-BE49-F238E27FC236}">
                <a16:creationId xmlns:a16="http://schemas.microsoft.com/office/drawing/2014/main" id="{1F956CF2-06F1-88DD-220A-D2D681F57D41}"/>
              </a:ext>
            </a:extLst>
          </p:cNvPr>
          <p:cNvSpPr/>
          <p:nvPr/>
        </p:nvSpPr>
        <p:spPr>
          <a:xfrm>
            <a:off x="3910519" y="1577792"/>
            <a:ext cx="398835" cy="13716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3317004D-F593-1736-FD27-05B4B08BB076}"/>
              </a:ext>
            </a:extLst>
          </p:cNvPr>
          <p:cNvSpPr/>
          <p:nvPr/>
        </p:nvSpPr>
        <p:spPr>
          <a:xfrm rot="10800000">
            <a:off x="4028868" y="4134042"/>
            <a:ext cx="398835" cy="13716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2B8E7AC-E6E7-9140-D6F5-B2F692F32B7D}"/>
              </a:ext>
            </a:extLst>
          </p:cNvPr>
          <p:cNvSpPr txBox="1"/>
          <p:nvPr/>
        </p:nvSpPr>
        <p:spPr>
          <a:xfrm>
            <a:off x="3083667" y="4120650"/>
            <a:ext cx="13002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+mj-ea"/>
                <a:ea typeface="+mj-ea"/>
              </a:rPr>
              <a:t>IP</a:t>
            </a:r>
            <a:r>
              <a:rPr lang="zh-CN" altLang="en-US" sz="1400" dirty="0">
                <a:latin typeface="+mj-ea"/>
                <a:ea typeface="+mj-ea"/>
              </a:rPr>
              <a:t>实例化</a:t>
            </a:r>
            <a:endParaRPr lang="en-US" altLang="zh-CN" sz="1400" dirty="0">
              <a:latin typeface="+mj-ea"/>
              <a:ea typeface="+mj-ea"/>
            </a:endParaRPr>
          </a:p>
          <a:p>
            <a:endParaRPr lang="en-US" altLang="zh-CN" sz="1400" dirty="0">
              <a:latin typeface="+mj-ea"/>
              <a:ea typeface="+mj-ea"/>
            </a:endParaRPr>
          </a:p>
          <a:p>
            <a:endParaRPr lang="en-US" altLang="zh-CN" sz="1400" dirty="0">
              <a:latin typeface="+mj-ea"/>
              <a:ea typeface="+mj-ea"/>
            </a:endParaRPr>
          </a:p>
          <a:p>
            <a:endParaRPr lang="en-US" altLang="zh-CN" sz="1400" dirty="0">
              <a:latin typeface="+mj-ea"/>
              <a:ea typeface="+mj-ea"/>
            </a:endParaRPr>
          </a:p>
          <a:p>
            <a:endParaRPr lang="en-US" altLang="zh-CN" sz="1400" dirty="0">
              <a:latin typeface="+mj-ea"/>
              <a:ea typeface="+mj-ea"/>
            </a:endParaRPr>
          </a:p>
          <a:p>
            <a:r>
              <a:rPr lang="zh-CN" altLang="en-US" sz="1400" dirty="0">
                <a:latin typeface="+mj-ea"/>
                <a:ea typeface="+mj-ea"/>
              </a:rPr>
              <a:t>信号连接</a:t>
            </a:r>
          </a:p>
        </p:txBody>
      </p: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CE551651-8A31-0450-6B74-B3414B597128}"/>
              </a:ext>
            </a:extLst>
          </p:cNvPr>
          <p:cNvSpPr/>
          <p:nvPr/>
        </p:nvSpPr>
        <p:spPr>
          <a:xfrm>
            <a:off x="7506511" y="1571095"/>
            <a:ext cx="398835" cy="13716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CF79C70-2CFB-9618-CCFD-561ACC6A738F}"/>
              </a:ext>
            </a:extLst>
          </p:cNvPr>
          <p:cNvSpPr txBox="1"/>
          <p:nvPr/>
        </p:nvSpPr>
        <p:spPr>
          <a:xfrm>
            <a:off x="8119354" y="1581078"/>
            <a:ext cx="13002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j-ea"/>
                <a:ea typeface="+mj-ea"/>
              </a:rPr>
              <a:t>编译测试程序</a:t>
            </a:r>
            <a:endParaRPr lang="en-US" altLang="zh-CN" sz="1400" dirty="0">
              <a:latin typeface="+mj-ea"/>
              <a:ea typeface="+mj-ea"/>
            </a:endParaRPr>
          </a:p>
          <a:p>
            <a:endParaRPr lang="en-US" altLang="zh-CN" sz="1400" dirty="0">
              <a:latin typeface="+mj-ea"/>
              <a:ea typeface="+mj-ea"/>
            </a:endParaRPr>
          </a:p>
          <a:p>
            <a:endParaRPr lang="en-US" altLang="zh-CN" sz="1400" dirty="0">
              <a:latin typeface="+mj-ea"/>
              <a:ea typeface="+mj-ea"/>
            </a:endParaRPr>
          </a:p>
          <a:p>
            <a:endParaRPr lang="en-US" altLang="zh-CN" sz="1400" dirty="0">
              <a:latin typeface="+mj-ea"/>
              <a:ea typeface="+mj-ea"/>
            </a:endParaRPr>
          </a:p>
          <a:p>
            <a:endParaRPr lang="en-US" altLang="zh-CN" sz="1400" dirty="0">
              <a:latin typeface="+mj-ea"/>
              <a:ea typeface="+mj-ea"/>
            </a:endParaRPr>
          </a:p>
          <a:p>
            <a:r>
              <a:rPr lang="zh-CN" altLang="en-US" sz="1400" dirty="0">
                <a:latin typeface="+mj-ea"/>
                <a:ea typeface="+mj-ea"/>
              </a:rPr>
              <a:t>运行仿真</a:t>
            </a:r>
          </a:p>
        </p:txBody>
      </p:sp>
      <p:sp>
        <p:nvSpPr>
          <p:cNvPr id="20" name="左大括号 19">
            <a:extLst>
              <a:ext uri="{FF2B5EF4-FFF2-40B4-BE49-F238E27FC236}">
                <a16:creationId xmlns:a16="http://schemas.microsoft.com/office/drawing/2014/main" id="{9CE731DF-F26C-3437-678F-6861A17916E0}"/>
              </a:ext>
            </a:extLst>
          </p:cNvPr>
          <p:cNvSpPr/>
          <p:nvPr/>
        </p:nvSpPr>
        <p:spPr>
          <a:xfrm rot="10800000">
            <a:off x="7459493" y="4145551"/>
            <a:ext cx="398835" cy="13716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DC8E106-F53C-0751-1CA5-86F72923D86C}"/>
              </a:ext>
            </a:extLst>
          </p:cNvPr>
          <p:cNvSpPr txBox="1"/>
          <p:nvPr/>
        </p:nvSpPr>
        <p:spPr>
          <a:xfrm>
            <a:off x="6360265" y="4134043"/>
            <a:ext cx="13002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j-ea"/>
                <a:ea typeface="+mj-ea"/>
              </a:rPr>
              <a:t>生成</a:t>
            </a:r>
            <a:r>
              <a:rPr lang="en-US" altLang="zh-CN" sz="1400" dirty="0">
                <a:latin typeface="+mj-ea"/>
                <a:ea typeface="+mj-ea"/>
              </a:rPr>
              <a:t>bit</a:t>
            </a:r>
            <a:r>
              <a:rPr lang="zh-CN" altLang="en-US" sz="1400" dirty="0">
                <a:latin typeface="+mj-ea"/>
                <a:ea typeface="+mj-ea"/>
              </a:rPr>
              <a:t>文件</a:t>
            </a:r>
            <a:endParaRPr lang="en-US" altLang="zh-CN" sz="1400" dirty="0">
              <a:latin typeface="+mj-ea"/>
              <a:ea typeface="+mj-ea"/>
            </a:endParaRPr>
          </a:p>
          <a:p>
            <a:endParaRPr lang="en-US" altLang="zh-CN" sz="1400" dirty="0">
              <a:latin typeface="+mj-ea"/>
              <a:ea typeface="+mj-ea"/>
            </a:endParaRPr>
          </a:p>
          <a:p>
            <a:endParaRPr lang="en-US" altLang="zh-CN" sz="1400" dirty="0">
              <a:latin typeface="+mj-ea"/>
              <a:ea typeface="+mj-ea"/>
            </a:endParaRPr>
          </a:p>
          <a:p>
            <a:endParaRPr lang="en-US" altLang="zh-CN" sz="1400" dirty="0">
              <a:latin typeface="+mj-ea"/>
              <a:ea typeface="+mj-ea"/>
            </a:endParaRPr>
          </a:p>
          <a:p>
            <a:endParaRPr lang="en-US" altLang="zh-CN" sz="1400" dirty="0">
              <a:latin typeface="+mj-ea"/>
              <a:ea typeface="+mj-ea"/>
            </a:endParaRPr>
          </a:p>
          <a:p>
            <a:r>
              <a:rPr lang="en-US" altLang="zh-CN" sz="1400" dirty="0">
                <a:latin typeface="+mj-ea"/>
                <a:ea typeface="+mj-ea"/>
              </a:rPr>
              <a:t>  FPGA</a:t>
            </a:r>
            <a:r>
              <a:rPr lang="zh-CN" altLang="en-US" sz="1400" dirty="0">
                <a:latin typeface="+mj-ea"/>
                <a:ea typeface="+mj-ea"/>
              </a:rPr>
              <a:t>测试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7A3CD66-A9CD-467F-76CF-C2F720A06FA0}"/>
              </a:ext>
            </a:extLst>
          </p:cNvPr>
          <p:cNvCxnSpPr/>
          <p:nvPr/>
        </p:nvCxnSpPr>
        <p:spPr>
          <a:xfrm>
            <a:off x="2525486" y="3587931"/>
            <a:ext cx="6766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332C9531-098E-06C9-8E01-64E679E8D834}"/>
              </a:ext>
            </a:extLst>
          </p:cNvPr>
          <p:cNvSpPr/>
          <p:nvPr/>
        </p:nvSpPr>
        <p:spPr>
          <a:xfrm>
            <a:off x="10010968" y="965294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组合 33">
            <a:extLst>
              <a:ext uri="{FF2B5EF4-FFF2-40B4-BE49-F238E27FC236}">
                <a16:creationId xmlns:a16="http://schemas.microsoft.com/office/drawing/2014/main" id="{EE186A4E-E275-3E24-652E-192AD13C7C4F}"/>
              </a:ext>
            </a:extLst>
          </p:cNvPr>
          <p:cNvSpPr/>
          <p:nvPr/>
        </p:nvSpPr>
        <p:spPr>
          <a:xfrm>
            <a:off x="8998837" y="425294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开发流程图</a:t>
            </a:r>
            <a:endParaRPr lang="zh-CN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6C7B1-41A0-291B-2DE5-883793DCE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B1A8DA70-08E3-673D-42D6-6087DDCE1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8DB18E65-DCA7-6471-D68B-378C451FE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814" name="矩形 19">
            <a:extLst>
              <a:ext uri="{FF2B5EF4-FFF2-40B4-BE49-F238E27FC236}">
                <a16:creationId xmlns:a16="http://schemas.microsoft.com/office/drawing/2014/main" id="{BC7CE1AD-C1C7-B2DA-2442-23A904541851}"/>
              </a:ext>
            </a:extLst>
          </p:cNvPr>
          <p:cNvSpPr/>
          <p:nvPr/>
        </p:nvSpPr>
        <p:spPr>
          <a:xfrm rot="10800000">
            <a:off x="5098842" y="2016870"/>
            <a:ext cx="5828240" cy="34313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8" h="21598" extrusionOk="0">
                <a:moveTo>
                  <a:pt x="399" y="0"/>
                </a:moveTo>
                <a:lnTo>
                  <a:pt x="13165" y="87"/>
                </a:lnTo>
                <a:cubicBezTo>
                  <a:pt x="13321" y="88"/>
                  <a:pt x="13461" y="194"/>
                  <a:pt x="13525" y="359"/>
                </a:cubicBezTo>
                <a:lnTo>
                  <a:pt x="21483" y="20953"/>
                </a:lnTo>
                <a:cubicBezTo>
                  <a:pt x="21600" y="21256"/>
                  <a:pt x="21408" y="21598"/>
                  <a:pt x="21121" y="21598"/>
                </a:cubicBezTo>
                <a:lnTo>
                  <a:pt x="396" y="21598"/>
                </a:lnTo>
                <a:cubicBezTo>
                  <a:pt x="178" y="21598"/>
                  <a:pt x="0" y="21393"/>
                  <a:pt x="0" y="21140"/>
                </a:cubicBezTo>
                <a:lnTo>
                  <a:pt x="0" y="457"/>
                </a:lnTo>
                <a:cubicBezTo>
                  <a:pt x="0" y="204"/>
                  <a:pt x="179" y="-2"/>
                  <a:pt x="399" y="0"/>
                </a:cubicBezTo>
              </a:path>
            </a:pathLst>
          </a:custGeom>
          <a:solidFill>
            <a:srgbClr val="FFFFFF"/>
          </a:solidFill>
          <a:ln w="12700">
            <a:solidFill>
              <a:srgbClr val="2A64E3"/>
            </a:solidFill>
            <a:miter/>
          </a:ln>
          <a:effectLst>
            <a:outerShdw blurRad="101600" dist="76200" dir="5400000" rotWithShape="0">
              <a:srgbClr val="354B59">
                <a:alpha val="1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2A64E3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815" name="TextBox 21">
            <a:extLst>
              <a:ext uri="{FF2B5EF4-FFF2-40B4-BE49-F238E27FC236}">
                <a16:creationId xmlns:a16="http://schemas.microsoft.com/office/drawing/2014/main" id="{616D5B3F-82B0-A3F5-FE46-5CC46B4D4BBA}"/>
              </a:ext>
            </a:extLst>
          </p:cNvPr>
          <p:cNvSpPr txBox="1"/>
          <p:nvPr/>
        </p:nvSpPr>
        <p:spPr>
          <a:xfrm>
            <a:off x="7510089" y="3097710"/>
            <a:ext cx="3113663" cy="33669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marL="171450" indent="-171450">
              <a:lnSpc>
                <a:spcPct val="150000"/>
              </a:lnSpc>
              <a:buSzPct val="100000"/>
              <a:buFont typeface="AlibabaPuHuiTi_2_55_Regular"/>
              <a:buChar char="•"/>
              <a:defRPr sz="1000" spc="1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kumimoji="1" lang="en-US" altLang="zh-CN" sz="1200" b="1" dirty="0" err="1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+mj-ea"/>
                <a:ea typeface="+mj-ea"/>
                <a:cs typeface="宋体" panose="02010600030101010101" pitchFamily="2" charset="-122"/>
              </a:rPr>
              <a:t>修改</a:t>
            </a:r>
            <a:r>
              <a:rPr kumimoji="1" lang="en-US" altLang="zh-CN" sz="1200" b="1" dirty="0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+mj-ea"/>
                <a:ea typeface="+mj-ea"/>
                <a:cs typeface="宋体" panose="02010600030101010101" pitchFamily="2" charset="-122"/>
              </a:rPr>
              <a:t> init.sh </a:t>
            </a:r>
            <a:r>
              <a:rPr kumimoji="1" lang="en-US" altLang="zh-CN" sz="1200" b="1" dirty="0" err="1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+mj-ea"/>
                <a:ea typeface="+mj-ea"/>
                <a:cs typeface="宋体" panose="02010600030101010101" pitchFamily="2" charset="-122"/>
              </a:rPr>
              <a:t>文件，指定发布包路径</a:t>
            </a:r>
            <a:endParaRPr sz="1200" b="1" dirty="0">
              <a:latin typeface="+mj-ea"/>
              <a:ea typeface="+mj-ea"/>
            </a:endParaRPr>
          </a:p>
        </p:txBody>
      </p:sp>
      <p:sp>
        <p:nvSpPr>
          <p:cNvPr id="816" name="TextBox 21">
            <a:extLst>
              <a:ext uri="{FF2B5EF4-FFF2-40B4-BE49-F238E27FC236}">
                <a16:creationId xmlns:a16="http://schemas.microsoft.com/office/drawing/2014/main" id="{0A812F40-D609-5EC2-2B08-588A855BAE92}"/>
              </a:ext>
            </a:extLst>
          </p:cNvPr>
          <p:cNvSpPr txBox="1"/>
          <p:nvPr/>
        </p:nvSpPr>
        <p:spPr>
          <a:xfrm>
            <a:off x="7510089" y="3708717"/>
            <a:ext cx="3113663" cy="33669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marL="171450" indent="-171450">
              <a:lnSpc>
                <a:spcPct val="150000"/>
              </a:lnSpc>
              <a:buSzPct val="100000"/>
              <a:buFont typeface="AlibabaPuHuiTi_2_55_Regular"/>
              <a:buChar char="•"/>
              <a:defRPr sz="1000" spc="1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kumimoji="1" lang="en-US" altLang="zh-CN" sz="1200" b="1" dirty="0" err="1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+mj-ea"/>
                <a:ea typeface="+mj-ea"/>
                <a:cs typeface="宋体" panose="02010600030101010101" pitchFamily="2" charset="-122"/>
              </a:rPr>
              <a:t>运行脚本完成工具链和</a:t>
            </a:r>
            <a:r>
              <a:rPr kumimoji="1" lang="en-US" altLang="zh-CN" sz="1200" b="1" dirty="0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+mj-ea"/>
                <a:ea typeface="+mj-ea"/>
                <a:cs typeface="宋体" panose="02010600030101010101" pitchFamily="2" charset="-122"/>
              </a:rPr>
              <a:t> C </a:t>
            </a:r>
            <a:r>
              <a:rPr kumimoji="1" lang="en-US" altLang="zh-CN" sz="1200" b="1" dirty="0" err="1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+mj-ea"/>
                <a:ea typeface="+mj-ea"/>
                <a:cs typeface="宋体" panose="02010600030101010101" pitchFamily="2" charset="-122"/>
              </a:rPr>
              <a:t>库的安装</a:t>
            </a:r>
            <a:endParaRPr sz="1200" b="1" dirty="0">
              <a:latin typeface="+mj-ea"/>
              <a:ea typeface="+mj-ea"/>
            </a:endParaRPr>
          </a:p>
        </p:txBody>
      </p:sp>
      <p:sp>
        <p:nvSpPr>
          <p:cNvPr id="817" name="TextBox 21">
            <a:extLst>
              <a:ext uri="{FF2B5EF4-FFF2-40B4-BE49-F238E27FC236}">
                <a16:creationId xmlns:a16="http://schemas.microsoft.com/office/drawing/2014/main" id="{28DA9BA5-AB3E-6A08-29C3-13DD8C12EC00}"/>
              </a:ext>
            </a:extLst>
          </p:cNvPr>
          <p:cNvSpPr txBox="1"/>
          <p:nvPr/>
        </p:nvSpPr>
        <p:spPr>
          <a:xfrm>
            <a:off x="7510089" y="4319725"/>
            <a:ext cx="3113663" cy="3355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marL="171450" indent="-171450">
              <a:lnSpc>
                <a:spcPct val="150000"/>
              </a:lnSpc>
              <a:buSzPct val="100000"/>
              <a:buFont typeface="AlibabaPuHuiTi_2_55_Regular"/>
              <a:buChar char="•"/>
              <a:defRPr sz="1000" spc="1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kumimoji="1" lang="en-US" altLang="zh-CN" sz="1200" b="1" dirty="0" err="1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+mj-ea"/>
                <a:ea typeface="+mj-ea"/>
                <a:cs typeface="宋体" panose="02010600030101010101" pitchFamily="2" charset="-122"/>
              </a:rPr>
              <a:t>检查工具链版本，确保安装成功</a:t>
            </a:r>
            <a:endParaRPr sz="1200" b="1" dirty="0">
              <a:latin typeface="+mj-ea"/>
              <a:ea typeface="+mj-ea"/>
            </a:endParaRPr>
          </a:p>
        </p:txBody>
      </p:sp>
      <p:sp>
        <p:nvSpPr>
          <p:cNvPr id="818" name="直接连接符 12">
            <a:extLst>
              <a:ext uri="{FF2B5EF4-FFF2-40B4-BE49-F238E27FC236}">
                <a16:creationId xmlns:a16="http://schemas.microsoft.com/office/drawing/2014/main" id="{E3BE4115-7336-73BA-1B9D-AE6F9FFEFA28}"/>
              </a:ext>
            </a:extLst>
          </p:cNvPr>
          <p:cNvSpPr/>
          <p:nvPr/>
        </p:nvSpPr>
        <p:spPr>
          <a:xfrm>
            <a:off x="7457634" y="2921827"/>
            <a:ext cx="3092407" cy="1"/>
          </a:xfrm>
          <a:prstGeom prst="line">
            <a:avLst/>
          </a:prstGeom>
          <a:ln w="6350">
            <a:solidFill>
              <a:srgbClr val="2A64E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9" name="任意多边形: 形状 56">
            <a:extLst>
              <a:ext uri="{FF2B5EF4-FFF2-40B4-BE49-F238E27FC236}">
                <a16:creationId xmlns:a16="http://schemas.microsoft.com/office/drawing/2014/main" id="{7BE81644-0E1D-83B6-724B-45F84E9AC53F}"/>
              </a:ext>
            </a:extLst>
          </p:cNvPr>
          <p:cNvSpPr/>
          <p:nvPr/>
        </p:nvSpPr>
        <p:spPr>
          <a:xfrm>
            <a:off x="10307696" y="4902036"/>
            <a:ext cx="619385" cy="546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049" y="0"/>
                </a:moveTo>
                <a:cubicBezTo>
                  <a:pt x="19706" y="0"/>
                  <a:pt x="20356" y="38"/>
                  <a:pt x="20997" y="112"/>
                </a:cubicBezTo>
                <a:lnTo>
                  <a:pt x="21600" y="216"/>
                </a:lnTo>
                <a:lnTo>
                  <a:pt x="21600" y="19590"/>
                </a:lnTo>
                <a:cubicBezTo>
                  <a:pt x="21600" y="20700"/>
                  <a:pt x="20807" y="21600"/>
                  <a:pt x="19828" y="21600"/>
                </a:cubicBezTo>
                <a:lnTo>
                  <a:pt x="0" y="21600"/>
                </a:lnTo>
                <a:cubicBezTo>
                  <a:pt x="0" y="9671"/>
                  <a:pt x="8528" y="0"/>
                  <a:pt x="19049" y="0"/>
                </a:cubicBezTo>
                <a:close/>
              </a:path>
            </a:pathLst>
          </a:custGeom>
          <a:solidFill>
            <a:srgbClr val="2A64E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2A64E3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820" name="矩形 19">
            <a:extLst>
              <a:ext uri="{FF2B5EF4-FFF2-40B4-BE49-F238E27FC236}">
                <a16:creationId xmlns:a16="http://schemas.microsoft.com/office/drawing/2014/main" id="{23907506-104A-277E-F697-C3365AF4DB1B}"/>
              </a:ext>
            </a:extLst>
          </p:cNvPr>
          <p:cNvSpPr/>
          <p:nvPr/>
        </p:nvSpPr>
        <p:spPr>
          <a:xfrm>
            <a:off x="1264921" y="2018391"/>
            <a:ext cx="5828239" cy="34313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8" h="21598" extrusionOk="0">
                <a:moveTo>
                  <a:pt x="399" y="0"/>
                </a:moveTo>
                <a:lnTo>
                  <a:pt x="13165" y="87"/>
                </a:lnTo>
                <a:cubicBezTo>
                  <a:pt x="13321" y="88"/>
                  <a:pt x="13461" y="194"/>
                  <a:pt x="13525" y="359"/>
                </a:cubicBezTo>
                <a:lnTo>
                  <a:pt x="21483" y="20953"/>
                </a:lnTo>
                <a:cubicBezTo>
                  <a:pt x="21600" y="21256"/>
                  <a:pt x="21408" y="21598"/>
                  <a:pt x="21121" y="21598"/>
                </a:cubicBezTo>
                <a:lnTo>
                  <a:pt x="396" y="21598"/>
                </a:lnTo>
                <a:cubicBezTo>
                  <a:pt x="178" y="21598"/>
                  <a:pt x="0" y="21393"/>
                  <a:pt x="0" y="21140"/>
                </a:cubicBezTo>
                <a:lnTo>
                  <a:pt x="0" y="457"/>
                </a:lnTo>
                <a:cubicBezTo>
                  <a:pt x="0" y="204"/>
                  <a:pt x="179" y="-2"/>
                  <a:pt x="399" y="0"/>
                </a:cubicBezTo>
              </a:path>
            </a:pathLst>
          </a:custGeom>
          <a:gradFill>
            <a:gsLst>
              <a:gs pos="0">
                <a:srgbClr val="2A64E3"/>
              </a:gs>
              <a:gs pos="100000">
                <a:srgbClr val="E3EFF8"/>
              </a:gs>
            </a:gsLst>
            <a:lin ang="138497"/>
          </a:gradFill>
          <a:ln w="12700">
            <a:solidFill>
              <a:srgbClr val="BDDBE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2A64E3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821" name="TextBox 20">
            <a:extLst>
              <a:ext uri="{FF2B5EF4-FFF2-40B4-BE49-F238E27FC236}">
                <a16:creationId xmlns:a16="http://schemas.microsoft.com/office/drawing/2014/main" id="{70D6E167-CEE1-DAF0-2DF3-80A9CBF38C9A}"/>
              </a:ext>
            </a:extLst>
          </p:cNvPr>
          <p:cNvSpPr txBox="1"/>
          <p:nvPr/>
        </p:nvSpPr>
        <p:spPr>
          <a:xfrm>
            <a:off x="1605933" y="2499435"/>
            <a:ext cx="1483486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软件安装</a:t>
            </a:r>
            <a:endParaRPr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822" name="TextBox 21">
            <a:extLst>
              <a:ext uri="{FF2B5EF4-FFF2-40B4-BE49-F238E27FC236}">
                <a16:creationId xmlns:a16="http://schemas.microsoft.com/office/drawing/2014/main" id="{B0AE2834-E974-432F-E6FE-11A8EE99D38E}"/>
              </a:ext>
            </a:extLst>
          </p:cNvPr>
          <p:cNvSpPr txBox="1"/>
          <p:nvPr/>
        </p:nvSpPr>
        <p:spPr>
          <a:xfrm>
            <a:off x="1653227" y="3097710"/>
            <a:ext cx="3113663" cy="613694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marL="171450" indent="-171450">
              <a:lnSpc>
                <a:spcPct val="150000"/>
              </a:lnSpc>
              <a:buSzPct val="100000"/>
              <a:buFont typeface="AlibabaPuHuiTi_2_55_Regular"/>
              <a:buChar char="•"/>
              <a:defRPr sz="1000" spc="1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kumimoji="1" lang="en-US" altLang="zh-CN" sz="1200" b="1" dirty="0" err="1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宋体" panose="02010600030101010101" pitchFamily="2" charset="-122"/>
              </a:rPr>
              <a:t>IDE：安装</a:t>
            </a:r>
            <a:r>
              <a:rPr kumimoji="1" lang="en-US" altLang="zh-CN" sz="1200" b="1" dirty="0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宋体" panose="02010600030101010101" pitchFamily="2" charset="-122"/>
              </a:rPr>
              <a:t>Vivado</a:t>
            </a:r>
            <a:r>
              <a:rPr kumimoji="1" lang="en-US" altLang="zh-CN" sz="1200" b="1" dirty="0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宋体" panose="02010600030101010101" pitchFamily="2" charset="-122"/>
              </a:rPr>
              <a:t> 2019.2，用于硬件设计与仿真</a:t>
            </a:r>
            <a:endParaRPr sz="12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23" name="TextBox 21">
            <a:extLst>
              <a:ext uri="{FF2B5EF4-FFF2-40B4-BE49-F238E27FC236}">
                <a16:creationId xmlns:a16="http://schemas.microsoft.com/office/drawing/2014/main" id="{AFC5D972-57E4-DD98-B75B-35024F4005BC}"/>
              </a:ext>
            </a:extLst>
          </p:cNvPr>
          <p:cNvSpPr txBox="1"/>
          <p:nvPr/>
        </p:nvSpPr>
        <p:spPr>
          <a:xfrm>
            <a:off x="1653227" y="3708717"/>
            <a:ext cx="3763504" cy="61369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171450" indent="-171450">
              <a:lnSpc>
                <a:spcPct val="150000"/>
              </a:lnSpc>
              <a:buSzPct val="100000"/>
              <a:buFont typeface="AlibabaPuHuiTi_2_55_Regular"/>
              <a:buChar char="•"/>
              <a:defRPr sz="1000" spc="1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kumimoji="1" lang="en-US" altLang="zh-CN" sz="1200" b="1" dirty="0" err="1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宋体" panose="02010600030101010101" pitchFamily="2" charset="-122"/>
              </a:rPr>
              <a:t>开发环境：使用</a:t>
            </a:r>
            <a:r>
              <a:rPr kumimoji="1" lang="en-US" altLang="zh-CN" sz="1200" b="1" dirty="0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宋体" panose="02010600030101010101" pitchFamily="2" charset="-122"/>
              </a:rPr>
              <a:t> Windows + WSL2（Ubuntu 22.04.5），</a:t>
            </a:r>
            <a:r>
              <a:rPr kumimoji="1" lang="en-US" altLang="zh-CN" sz="1200" b="1" dirty="0" err="1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宋体" panose="02010600030101010101" pitchFamily="2" charset="-122"/>
              </a:rPr>
              <a:t>搭建</a:t>
            </a:r>
            <a:r>
              <a:rPr kumimoji="1" lang="en-US" altLang="zh-CN" sz="1200" b="1" dirty="0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宋体" panose="02010600030101010101" pitchFamily="2" charset="-122"/>
              </a:rPr>
              <a:t> Linux </a:t>
            </a:r>
            <a:r>
              <a:rPr kumimoji="1" lang="en-US" altLang="zh-CN" sz="1200" b="1" dirty="0" err="1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宋体" panose="02010600030101010101" pitchFamily="2" charset="-122"/>
              </a:rPr>
              <a:t>编译环境</a:t>
            </a:r>
            <a:endParaRPr sz="12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24" name="TextBox 21">
            <a:extLst>
              <a:ext uri="{FF2B5EF4-FFF2-40B4-BE49-F238E27FC236}">
                <a16:creationId xmlns:a16="http://schemas.microsoft.com/office/drawing/2014/main" id="{AE8BD65F-EF47-760A-9CF5-26B837381DD3}"/>
              </a:ext>
            </a:extLst>
          </p:cNvPr>
          <p:cNvSpPr txBox="1"/>
          <p:nvPr/>
        </p:nvSpPr>
        <p:spPr>
          <a:xfrm>
            <a:off x="1653227" y="4319725"/>
            <a:ext cx="3113663" cy="613694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marL="171450" indent="-171450">
              <a:lnSpc>
                <a:spcPct val="150000"/>
              </a:lnSpc>
              <a:buSzPct val="100000"/>
              <a:buFont typeface="AlibabaPuHuiTi_2_55_Regular"/>
              <a:buChar char="•"/>
              <a:defRPr sz="1000" spc="1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kumimoji="1" lang="en-US" altLang="zh-CN" sz="1200" b="1" dirty="0" err="1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宋体" panose="02010600030101010101" pitchFamily="2" charset="-122"/>
              </a:rPr>
              <a:t>编译工具：使用发布包提供的</a:t>
            </a:r>
            <a:r>
              <a:rPr kumimoji="1" lang="en-US" altLang="zh-CN" sz="1200" b="1" dirty="0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宋体" panose="02010600030101010101" pitchFamily="2" charset="-122"/>
              </a:rPr>
              <a:t> GNU </a:t>
            </a:r>
            <a:r>
              <a:rPr kumimoji="1" lang="en-US" altLang="zh-CN" sz="1200" b="1" dirty="0" err="1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宋体" panose="02010600030101010101" pitchFamily="2" charset="-122"/>
              </a:rPr>
              <a:t>工具链和</a:t>
            </a:r>
            <a:r>
              <a:rPr kumimoji="1" lang="en-US" altLang="zh-CN" sz="1200" b="1" dirty="0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宋体" panose="02010600030101010101" pitchFamily="2" charset="-122"/>
              </a:rPr>
              <a:t> C </a:t>
            </a:r>
            <a:r>
              <a:rPr kumimoji="1" lang="en-US" altLang="zh-CN" sz="1200" b="1" dirty="0" err="1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宋体" panose="02010600030101010101" pitchFamily="2" charset="-122"/>
              </a:rPr>
              <a:t>库，支持软件编译</a:t>
            </a:r>
            <a:endParaRPr sz="12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26" name="直接连接符 20">
            <a:extLst>
              <a:ext uri="{FF2B5EF4-FFF2-40B4-BE49-F238E27FC236}">
                <a16:creationId xmlns:a16="http://schemas.microsoft.com/office/drawing/2014/main" id="{4AE08E8A-7BC8-5FF1-20DC-BB69182CA10F}"/>
              </a:ext>
            </a:extLst>
          </p:cNvPr>
          <p:cNvSpPr/>
          <p:nvPr/>
        </p:nvSpPr>
        <p:spPr>
          <a:xfrm>
            <a:off x="1607507" y="2921827"/>
            <a:ext cx="3092407" cy="1"/>
          </a:xfrm>
          <a:prstGeom prst="line">
            <a:avLst/>
          </a:prstGeom>
          <a:ln w="6350">
            <a:solidFill>
              <a:srgbClr val="FFFFFF">
                <a:alpha val="84000"/>
              </a:srgb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7" name="任意多边形: 形状 57">
            <a:extLst>
              <a:ext uri="{FF2B5EF4-FFF2-40B4-BE49-F238E27FC236}">
                <a16:creationId xmlns:a16="http://schemas.microsoft.com/office/drawing/2014/main" id="{C5579E2C-6D16-5A36-AA13-506F9A274E46}"/>
              </a:ext>
            </a:extLst>
          </p:cNvPr>
          <p:cNvSpPr/>
          <p:nvPr/>
        </p:nvSpPr>
        <p:spPr>
          <a:xfrm rot="10800000">
            <a:off x="1293314" y="2042677"/>
            <a:ext cx="619386" cy="546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049" y="0"/>
                </a:moveTo>
                <a:cubicBezTo>
                  <a:pt x="19706" y="0"/>
                  <a:pt x="20356" y="38"/>
                  <a:pt x="20997" y="112"/>
                </a:cubicBezTo>
                <a:lnTo>
                  <a:pt x="21600" y="216"/>
                </a:lnTo>
                <a:lnTo>
                  <a:pt x="21600" y="19590"/>
                </a:lnTo>
                <a:cubicBezTo>
                  <a:pt x="21600" y="20700"/>
                  <a:pt x="20807" y="21600"/>
                  <a:pt x="19828" y="21600"/>
                </a:cubicBezTo>
                <a:lnTo>
                  <a:pt x="0" y="21600"/>
                </a:lnTo>
                <a:cubicBezTo>
                  <a:pt x="0" y="9671"/>
                  <a:pt x="8528" y="0"/>
                  <a:pt x="19049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828" name="TextBox 20">
            <a:extLst>
              <a:ext uri="{FF2B5EF4-FFF2-40B4-BE49-F238E27FC236}">
                <a16:creationId xmlns:a16="http://schemas.microsoft.com/office/drawing/2014/main" id="{87BF93A7-BEA9-1862-9988-46ECCB9A280C}"/>
              </a:ext>
            </a:extLst>
          </p:cNvPr>
          <p:cNvSpPr txBox="1"/>
          <p:nvPr/>
        </p:nvSpPr>
        <p:spPr>
          <a:xfrm>
            <a:off x="7478618" y="2499435"/>
            <a:ext cx="1483486" cy="3683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配置工具链</a:t>
            </a:r>
            <a:endParaRPr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4" name="组合 33">
            <a:extLst>
              <a:ext uri="{FF2B5EF4-FFF2-40B4-BE49-F238E27FC236}">
                <a16:creationId xmlns:a16="http://schemas.microsoft.com/office/drawing/2014/main" id="{99033065-57FA-CA28-9305-E5DE0B8F81EF}"/>
              </a:ext>
            </a:extLst>
          </p:cNvPr>
          <p:cNvSpPr/>
          <p:nvPr/>
        </p:nvSpPr>
        <p:spPr>
          <a:xfrm>
            <a:off x="8998837" y="425294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环境搭建</a:t>
            </a:r>
            <a:endParaRPr lang="zh-CN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DA9454-A1AB-4DE4-38E2-43DEEAF6A370}"/>
              </a:ext>
            </a:extLst>
          </p:cNvPr>
          <p:cNvSpPr/>
          <p:nvPr/>
        </p:nvSpPr>
        <p:spPr>
          <a:xfrm>
            <a:off x="10010968" y="965294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7434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AE903-065B-44B4-9BF9-7904AF939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DA29D6B3-3647-D8B6-AF20-B799F6C1234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0AC52C61-A6C0-F547-480B-1B9DA37D2D1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484" name="矩形: 圆角 25">
            <a:extLst>
              <a:ext uri="{FF2B5EF4-FFF2-40B4-BE49-F238E27FC236}">
                <a16:creationId xmlns:a16="http://schemas.microsoft.com/office/drawing/2014/main" id="{54B9DB35-C8D4-CD24-40E3-22895483278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440000" y="2844000"/>
            <a:ext cx="4680000" cy="1440000"/>
          </a:xfrm>
          <a:prstGeom prst="roundRect">
            <a:avLst>
              <a:gd name="adj" fmla="val 4257"/>
            </a:avLst>
          </a:prstGeom>
          <a:solidFill>
            <a:srgbClr val="FFFFFF"/>
          </a:solidFill>
          <a:ln w="12700">
            <a:miter lim="400000"/>
          </a:ln>
          <a:effectLst>
            <a:outerShdw blurRad="558800" dist="177800" dir="5400000" rotWithShape="0">
              <a:srgbClr val="3B5463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2" name="椭圆 9">
            <a:extLst>
              <a:ext uri="{FF2B5EF4-FFF2-40B4-BE49-F238E27FC236}">
                <a16:creationId xmlns:a16="http://schemas.microsoft.com/office/drawing/2014/main" id="{2BBBB61B-CDCE-9EAB-140E-E3B83326DE9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728602" y="3240497"/>
            <a:ext cx="665989" cy="665989"/>
          </a:xfrm>
          <a:prstGeom prst="ellipse">
            <a:avLst/>
          </a:prstGeom>
          <a:solidFill>
            <a:srgbClr val="004CE5"/>
          </a:solidFill>
          <a:ln w="12700">
            <a:miter lim="400000"/>
          </a:ln>
          <a:effectLst>
            <a:outerShdw blurRad="254000" dist="63500" dir="5400000" rotWithShape="0">
              <a:srgbClr val="535353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" name="矩形 11">
            <a:extLst>
              <a:ext uri="{FF2B5EF4-FFF2-40B4-BE49-F238E27FC236}">
                <a16:creationId xmlns:a16="http://schemas.microsoft.com/office/drawing/2014/main" id="{06D1BC34-C065-B888-52C5-C1465ABBAB8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440088" y="4248434"/>
            <a:ext cx="4680000" cy="36001"/>
          </a:xfrm>
          <a:prstGeom prst="rect">
            <a:avLst/>
          </a:prstGeom>
          <a:solidFill>
            <a:srgbClr val="004C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" name="文本框 14">
            <a:extLst>
              <a:ext uri="{FF2B5EF4-FFF2-40B4-BE49-F238E27FC236}">
                <a16:creationId xmlns:a16="http://schemas.microsoft.com/office/drawing/2014/main" id="{44668445-10D7-488B-4E3B-0DC678C55ED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520000" y="2804081"/>
            <a:ext cx="3611929" cy="145277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kumimoji="1" lang="en-US" altLang="zh-CN" sz="1000" b="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ource Han Sans"/>
              </a:rPr>
              <a:t>OpenLA500 </a:t>
            </a:r>
            <a:r>
              <a:rPr kumimoji="1" lang="en-US" altLang="zh-CN" sz="1000" b="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ource Han Sans"/>
              </a:rPr>
              <a:t>处理器核：作为</a:t>
            </a:r>
            <a:r>
              <a:rPr kumimoji="1" lang="en-US" altLang="zh-CN" sz="1000" b="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ource Han Sans"/>
              </a:rPr>
              <a:t> SoC </a:t>
            </a:r>
            <a:r>
              <a:rPr kumimoji="1" lang="en-US" altLang="zh-CN" sz="1000" b="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ource Han Sans"/>
              </a:rPr>
              <a:t>的核心，提供处理能力</a:t>
            </a:r>
            <a:r>
              <a:rPr kumimoji="1" lang="en-US" altLang="zh-CN" sz="1000" b="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ource Han Sans"/>
              </a:rPr>
              <a:t>。
AXI4 </a:t>
            </a:r>
            <a:r>
              <a:rPr kumimoji="1" lang="en-US" altLang="zh-CN" sz="1000" b="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ource Han Sans"/>
              </a:rPr>
              <a:t>总线：实现处理器核与各外设模块的互联</a:t>
            </a:r>
            <a:r>
              <a:rPr kumimoji="1" lang="en-US" altLang="zh-CN" sz="1000" b="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ource Han Sans"/>
              </a:rPr>
              <a:t>。
SRAM </a:t>
            </a:r>
            <a:r>
              <a:rPr kumimoji="1" lang="en-US" altLang="zh-CN" sz="1000" b="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ource Han Sans"/>
              </a:rPr>
              <a:t>控制器：管理片外</a:t>
            </a:r>
            <a:r>
              <a:rPr kumimoji="1" lang="en-US" altLang="zh-CN" sz="1000" b="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ource Han Sans"/>
              </a:rPr>
              <a:t> </a:t>
            </a:r>
            <a:r>
              <a:rPr kumimoji="1" lang="en-US" altLang="zh-CN" sz="1000" b="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ource Han Sans"/>
              </a:rPr>
              <a:t>SRAM，提供存储扩展</a:t>
            </a:r>
            <a:r>
              <a:rPr kumimoji="1" lang="en-US" altLang="zh-CN" sz="1000" b="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ource Han Sans"/>
              </a:rPr>
              <a:t>。
</a:t>
            </a:r>
            <a:r>
              <a:rPr kumimoji="1" lang="en-US" altLang="zh-CN" sz="1000" b="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ource Han Sans"/>
              </a:rPr>
              <a:t>UART：实现串口通信功能，用于调试与数据传输</a:t>
            </a:r>
            <a:r>
              <a:rPr kumimoji="1" lang="en-US" altLang="zh-CN" sz="1000" b="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ource Han Sans"/>
              </a:rPr>
              <a:t>。
</a:t>
            </a:r>
            <a:r>
              <a:rPr kumimoji="1" lang="en-US" altLang="zh-CN" sz="1000" b="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ource Han Sans"/>
              </a:rPr>
              <a:t>Confreg：控制</a:t>
            </a:r>
            <a:r>
              <a:rPr kumimoji="1" lang="en-US" altLang="zh-CN" sz="1000" b="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ource Han Sans"/>
              </a:rPr>
              <a:t> FPGA </a:t>
            </a:r>
            <a:r>
              <a:rPr kumimoji="1" lang="en-US" altLang="zh-CN" sz="1000" b="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ource Han Sans"/>
              </a:rPr>
              <a:t>板上的外设（按键、拨码开关、LED、数码管等</a:t>
            </a:r>
            <a:r>
              <a:rPr kumimoji="1" lang="en-US" altLang="zh-CN" sz="1000" b="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ource Han Sans"/>
              </a:rPr>
              <a:t>）。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hape 1871">
            <a:extLst>
              <a:ext uri="{FF2B5EF4-FFF2-40B4-BE49-F238E27FC236}">
                <a16:creationId xmlns:a16="http://schemas.microsoft.com/office/drawing/2014/main" id="{10EA5E4E-3133-B77D-59CD-94212DC609E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908565" y="3455396"/>
            <a:ext cx="334107" cy="2405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4" h="21600" extrusionOk="0">
                <a:moveTo>
                  <a:pt x="15471" y="13581"/>
                </a:moveTo>
                <a:cubicBezTo>
                  <a:pt x="15529" y="13534"/>
                  <a:pt x="15601" y="13546"/>
                  <a:pt x="15656" y="13604"/>
                </a:cubicBezTo>
                <a:cubicBezTo>
                  <a:pt x="15933" y="13902"/>
                  <a:pt x="16240" y="14106"/>
                  <a:pt x="16559" y="14205"/>
                </a:cubicBezTo>
                <a:cubicBezTo>
                  <a:pt x="16618" y="14223"/>
                  <a:pt x="16665" y="14281"/>
                  <a:pt x="16686" y="14357"/>
                </a:cubicBezTo>
                <a:lnTo>
                  <a:pt x="17009" y="15553"/>
                </a:lnTo>
                <a:lnTo>
                  <a:pt x="17337" y="14357"/>
                </a:lnTo>
                <a:cubicBezTo>
                  <a:pt x="17358" y="14281"/>
                  <a:pt x="17404" y="14223"/>
                  <a:pt x="17463" y="14205"/>
                </a:cubicBezTo>
                <a:cubicBezTo>
                  <a:pt x="17787" y="14106"/>
                  <a:pt x="18090" y="13902"/>
                  <a:pt x="18367" y="13604"/>
                </a:cubicBezTo>
                <a:cubicBezTo>
                  <a:pt x="18422" y="13546"/>
                  <a:pt x="18493" y="13534"/>
                  <a:pt x="18552" y="13581"/>
                </a:cubicBezTo>
                <a:cubicBezTo>
                  <a:pt x="18804" y="13762"/>
                  <a:pt x="20061" y="14713"/>
                  <a:pt x="20381" y="15290"/>
                </a:cubicBezTo>
                <a:cubicBezTo>
                  <a:pt x="20995" y="16399"/>
                  <a:pt x="21432" y="19724"/>
                  <a:pt x="21592" y="21101"/>
                </a:cubicBezTo>
                <a:cubicBezTo>
                  <a:pt x="21600" y="21171"/>
                  <a:pt x="21587" y="21247"/>
                  <a:pt x="21554" y="21299"/>
                </a:cubicBezTo>
                <a:cubicBezTo>
                  <a:pt x="21520" y="21352"/>
                  <a:pt x="21474" y="21381"/>
                  <a:pt x="21423" y="21381"/>
                </a:cubicBezTo>
                <a:lnTo>
                  <a:pt x="12599" y="21381"/>
                </a:lnTo>
                <a:cubicBezTo>
                  <a:pt x="12549" y="21381"/>
                  <a:pt x="12503" y="21352"/>
                  <a:pt x="12469" y="21299"/>
                </a:cubicBezTo>
                <a:cubicBezTo>
                  <a:pt x="12435" y="21247"/>
                  <a:pt x="12423" y="21171"/>
                  <a:pt x="12431" y="21101"/>
                </a:cubicBezTo>
                <a:cubicBezTo>
                  <a:pt x="12591" y="19724"/>
                  <a:pt x="13028" y="16399"/>
                  <a:pt x="13642" y="15290"/>
                </a:cubicBezTo>
                <a:cubicBezTo>
                  <a:pt x="13961" y="14713"/>
                  <a:pt x="15218" y="13762"/>
                  <a:pt x="15471" y="13581"/>
                </a:cubicBezTo>
                <a:close/>
                <a:moveTo>
                  <a:pt x="17013" y="6071"/>
                </a:moveTo>
                <a:cubicBezTo>
                  <a:pt x="19258" y="6071"/>
                  <a:pt x="19485" y="7803"/>
                  <a:pt x="19485" y="9932"/>
                </a:cubicBezTo>
                <a:cubicBezTo>
                  <a:pt x="19485" y="12067"/>
                  <a:pt x="18379" y="13799"/>
                  <a:pt x="17013" y="13799"/>
                </a:cubicBezTo>
                <a:cubicBezTo>
                  <a:pt x="15647" y="13799"/>
                  <a:pt x="14537" y="12067"/>
                  <a:pt x="14537" y="9932"/>
                </a:cubicBezTo>
                <a:cubicBezTo>
                  <a:pt x="14537" y="9810"/>
                  <a:pt x="14537" y="9687"/>
                  <a:pt x="14542" y="9565"/>
                </a:cubicBezTo>
                <a:cubicBezTo>
                  <a:pt x="14407" y="9705"/>
                  <a:pt x="14285" y="9885"/>
                  <a:pt x="14222" y="10113"/>
                </a:cubicBezTo>
                <a:cubicBezTo>
                  <a:pt x="14130" y="10434"/>
                  <a:pt x="14180" y="10819"/>
                  <a:pt x="14365" y="11256"/>
                </a:cubicBezTo>
                <a:cubicBezTo>
                  <a:pt x="14428" y="11279"/>
                  <a:pt x="14487" y="11332"/>
                  <a:pt x="14525" y="11413"/>
                </a:cubicBezTo>
                <a:lnTo>
                  <a:pt x="14626" y="11618"/>
                </a:lnTo>
                <a:cubicBezTo>
                  <a:pt x="14672" y="11705"/>
                  <a:pt x="14689" y="11810"/>
                  <a:pt x="14676" y="11921"/>
                </a:cubicBezTo>
                <a:cubicBezTo>
                  <a:pt x="14663" y="12026"/>
                  <a:pt x="14617" y="12119"/>
                  <a:pt x="14554" y="12177"/>
                </a:cubicBezTo>
                <a:cubicBezTo>
                  <a:pt x="14508" y="12224"/>
                  <a:pt x="14449" y="12253"/>
                  <a:pt x="14390" y="12253"/>
                </a:cubicBezTo>
                <a:cubicBezTo>
                  <a:pt x="14294" y="12253"/>
                  <a:pt x="14205" y="12189"/>
                  <a:pt x="14151" y="12078"/>
                </a:cubicBezTo>
                <a:lnTo>
                  <a:pt x="14046" y="11874"/>
                </a:lnTo>
                <a:cubicBezTo>
                  <a:pt x="13999" y="11775"/>
                  <a:pt x="13987" y="11658"/>
                  <a:pt x="14004" y="11553"/>
                </a:cubicBezTo>
                <a:cubicBezTo>
                  <a:pt x="13747" y="10959"/>
                  <a:pt x="13688" y="10399"/>
                  <a:pt x="13827" y="9897"/>
                </a:cubicBezTo>
                <a:cubicBezTo>
                  <a:pt x="13970" y="9384"/>
                  <a:pt x="14298" y="9051"/>
                  <a:pt x="14571" y="8847"/>
                </a:cubicBezTo>
                <a:cubicBezTo>
                  <a:pt x="14680" y="7243"/>
                  <a:pt x="15159" y="6071"/>
                  <a:pt x="17013" y="6071"/>
                </a:cubicBezTo>
                <a:close/>
                <a:moveTo>
                  <a:pt x="8928" y="4301"/>
                </a:moveTo>
                <a:cubicBezTo>
                  <a:pt x="9058" y="4296"/>
                  <a:pt x="9184" y="4389"/>
                  <a:pt x="9251" y="4546"/>
                </a:cubicBezTo>
                <a:lnTo>
                  <a:pt x="10471" y="7422"/>
                </a:lnTo>
                <a:lnTo>
                  <a:pt x="13267" y="7422"/>
                </a:lnTo>
                <a:cubicBezTo>
                  <a:pt x="13464" y="7422"/>
                  <a:pt x="13628" y="7649"/>
                  <a:pt x="13628" y="7929"/>
                </a:cubicBezTo>
                <a:cubicBezTo>
                  <a:pt x="13628" y="8209"/>
                  <a:pt x="13464" y="8437"/>
                  <a:pt x="13267" y="8437"/>
                </a:cubicBezTo>
                <a:lnTo>
                  <a:pt x="10265" y="8437"/>
                </a:lnTo>
                <a:cubicBezTo>
                  <a:pt x="10134" y="8437"/>
                  <a:pt x="10012" y="8338"/>
                  <a:pt x="9949" y="8186"/>
                </a:cubicBezTo>
                <a:lnTo>
                  <a:pt x="8957" y="5847"/>
                </a:lnTo>
                <a:lnTo>
                  <a:pt x="7166" y="10601"/>
                </a:lnTo>
                <a:cubicBezTo>
                  <a:pt x="7107" y="10752"/>
                  <a:pt x="7002" y="10852"/>
                  <a:pt x="6880" y="10869"/>
                </a:cubicBezTo>
                <a:cubicBezTo>
                  <a:pt x="6867" y="10869"/>
                  <a:pt x="6855" y="10875"/>
                  <a:pt x="6842" y="10875"/>
                </a:cubicBezTo>
                <a:cubicBezTo>
                  <a:pt x="6733" y="10875"/>
                  <a:pt x="6628" y="10805"/>
                  <a:pt x="6556" y="10682"/>
                </a:cubicBezTo>
                <a:lnTo>
                  <a:pt x="5265" y="8437"/>
                </a:lnTo>
                <a:lnTo>
                  <a:pt x="2696" y="8437"/>
                </a:lnTo>
                <a:cubicBezTo>
                  <a:pt x="2495" y="8437"/>
                  <a:pt x="2331" y="8209"/>
                  <a:pt x="2331" y="7929"/>
                </a:cubicBezTo>
                <a:cubicBezTo>
                  <a:pt x="2331" y="7649"/>
                  <a:pt x="2495" y="7422"/>
                  <a:pt x="2696" y="7422"/>
                </a:cubicBezTo>
                <a:lnTo>
                  <a:pt x="5442" y="7422"/>
                </a:lnTo>
                <a:cubicBezTo>
                  <a:pt x="5551" y="7422"/>
                  <a:pt x="5656" y="7492"/>
                  <a:pt x="5728" y="7614"/>
                </a:cubicBezTo>
                <a:lnTo>
                  <a:pt x="6779" y="9446"/>
                </a:lnTo>
                <a:lnTo>
                  <a:pt x="8612" y="4570"/>
                </a:lnTo>
                <a:cubicBezTo>
                  <a:pt x="8675" y="4406"/>
                  <a:pt x="8793" y="4307"/>
                  <a:pt x="8928" y="4301"/>
                </a:cubicBezTo>
                <a:close/>
                <a:moveTo>
                  <a:pt x="488" y="0"/>
                </a:moveTo>
                <a:lnTo>
                  <a:pt x="17585" y="0"/>
                </a:lnTo>
                <a:cubicBezTo>
                  <a:pt x="17854" y="0"/>
                  <a:pt x="18069" y="303"/>
                  <a:pt x="18069" y="676"/>
                </a:cubicBezTo>
                <a:lnTo>
                  <a:pt x="18069" y="5161"/>
                </a:lnTo>
                <a:cubicBezTo>
                  <a:pt x="17728" y="5044"/>
                  <a:pt x="17346" y="4986"/>
                  <a:pt x="16921" y="4986"/>
                </a:cubicBezTo>
                <a:cubicBezTo>
                  <a:pt x="16774" y="4986"/>
                  <a:pt x="16631" y="4992"/>
                  <a:pt x="16492" y="5003"/>
                </a:cubicBezTo>
                <a:lnTo>
                  <a:pt x="16492" y="1872"/>
                </a:lnTo>
                <a:lnTo>
                  <a:pt x="1577" y="1872"/>
                </a:lnTo>
                <a:lnTo>
                  <a:pt x="1577" y="14695"/>
                </a:lnTo>
                <a:lnTo>
                  <a:pt x="12880" y="14695"/>
                </a:lnTo>
                <a:cubicBezTo>
                  <a:pt x="12644" y="15145"/>
                  <a:pt x="12434" y="15803"/>
                  <a:pt x="12253" y="16567"/>
                </a:cubicBezTo>
                <a:lnTo>
                  <a:pt x="11543" y="16567"/>
                </a:lnTo>
                <a:cubicBezTo>
                  <a:pt x="11602" y="17057"/>
                  <a:pt x="11703" y="17757"/>
                  <a:pt x="11867" y="18544"/>
                </a:cubicBezTo>
                <a:cubicBezTo>
                  <a:pt x="11732" y="19367"/>
                  <a:pt x="11623" y="20206"/>
                  <a:pt x="11534" y="20964"/>
                </a:cubicBezTo>
                <a:cubicBezTo>
                  <a:pt x="11509" y="21180"/>
                  <a:pt x="11526" y="21396"/>
                  <a:pt x="11572" y="21600"/>
                </a:cubicBezTo>
                <a:lnTo>
                  <a:pt x="6093" y="21600"/>
                </a:lnTo>
                <a:cubicBezTo>
                  <a:pt x="5925" y="21600"/>
                  <a:pt x="5773" y="21483"/>
                  <a:pt x="5681" y="21291"/>
                </a:cubicBezTo>
                <a:cubicBezTo>
                  <a:pt x="5593" y="21093"/>
                  <a:pt x="5580" y="20854"/>
                  <a:pt x="5652" y="20644"/>
                </a:cubicBezTo>
                <a:cubicBezTo>
                  <a:pt x="6173" y="19063"/>
                  <a:pt x="6421" y="17465"/>
                  <a:pt x="6526" y="16567"/>
                </a:cubicBezTo>
                <a:lnTo>
                  <a:pt x="488" y="16567"/>
                </a:lnTo>
                <a:cubicBezTo>
                  <a:pt x="219" y="16567"/>
                  <a:pt x="0" y="16264"/>
                  <a:pt x="0" y="15891"/>
                </a:cubicBezTo>
                <a:lnTo>
                  <a:pt x="0" y="676"/>
                </a:lnTo>
                <a:cubicBezTo>
                  <a:pt x="0" y="303"/>
                  <a:pt x="219" y="0"/>
                  <a:pt x="488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7D7D7D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7" name="矩形: 圆角 25">
            <a:extLst>
              <a:ext uri="{FF2B5EF4-FFF2-40B4-BE49-F238E27FC236}">
                <a16:creationId xmlns:a16="http://schemas.microsoft.com/office/drawing/2014/main" id="{DE98F551-05C1-0950-05E6-751D32EF705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440000" y="4500000"/>
            <a:ext cx="4680000" cy="1440000"/>
          </a:xfrm>
          <a:prstGeom prst="roundRect">
            <a:avLst>
              <a:gd name="adj" fmla="val 4257"/>
            </a:avLst>
          </a:prstGeom>
          <a:solidFill>
            <a:srgbClr val="FFFFFF"/>
          </a:solidFill>
          <a:ln w="12700">
            <a:miter lim="400000"/>
          </a:ln>
          <a:effectLst>
            <a:outerShdw blurRad="558800" dist="177800" dir="5400000" rotWithShape="0">
              <a:srgbClr val="3B5463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8" name="椭圆 9">
            <a:extLst>
              <a:ext uri="{FF2B5EF4-FFF2-40B4-BE49-F238E27FC236}">
                <a16:creationId xmlns:a16="http://schemas.microsoft.com/office/drawing/2014/main" id="{AE39C2D3-FF34-6FC2-40B1-9496D61727D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728602" y="4896000"/>
            <a:ext cx="665989" cy="665989"/>
          </a:xfrm>
          <a:prstGeom prst="ellipse">
            <a:avLst/>
          </a:prstGeom>
          <a:solidFill>
            <a:srgbClr val="004CE5"/>
          </a:solidFill>
          <a:ln w="12700">
            <a:miter lim="400000"/>
          </a:ln>
          <a:effectLst>
            <a:outerShdw blurRad="254000" dist="63500" dir="5400000" rotWithShape="0">
              <a:srgbClr val="535353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DEC34698-8F33-ECE4-8906-1C6F470EEB2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440088" y="5908959"/>
            <a:ext cx="4680000" cy="36001"/>
          </a:xfrm>
          <a:prstGeom prst="rect">
            <a:avLst/>
          </a:prstGeom>
          <a:solidFill>
            <a:srgbClr val="004C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11" name="文本框 14">
            <a:extLst>
              <a:ext uri="{FF2B5EF4-FFF2-40B4-BE49-F238E27FC236}">
                <a16:creationId xmlns:a16="http://schemas.microsoft.com/office/drawing/2014/main" id="{70FD4491-E69E-5836-AE94-A07ADEF28E49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508071" y="4692832"/>
            <a:ext cx="3611929" cy="988476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kumimoji="1" lang="en-US" altLang="zh-CN" sz="100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ource Han Sans"/>
              </a:rPr>
              <a:t>在 </a:t>
            </a:r>
            <a:r>
              <a:rPr kumimoji="1" lang="en-US" altLang="zh-CN" sz="10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ource Han Sans"/>
              </a:rPr>
              <a:t>soc_top.v</a:t>
            </a:r>
            <a:r>
              <a:rPr kumimoji="1" lang="en-US" altLang="zh-CN" sz="100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ource Han Sans"/>
              </a:rPr>
              <a:t> </a:t>
            </a:r>
            <a:r>
              <a:rPr kumimoji="1" lang="en-US" altLang="zh-CN" sz="10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ource Han Sans"/>
              </a:rPr>
              <a:t>文件中，正确连接各</a:t>
            </a:r>
            <a:r>
              <a:rPr kumimoji="1" lang="en-US" altLang="zh-CN" sz="100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ource Han Sans"/>
              </a:rPr>
              <a:t> IP </a:t>
            </a:r>
            <a:r>
              <a:rPr kumimoji="1" lang="en-US" altLang="zh-CN" sz="10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ource Han Sans"/>
              </a:rPr>
              <a:t>模块的信号，确保数据流通</a:t>
            </a:r>
            <a:r>
              <a:rPr kumimoji="1" lang="en-US" altLang="zh-CN" sz="100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ource Han Sans"/>
              </a:rPr>
              <a:t>。
</a:t>
            </a:r>
            <a:r>
              <a:rPr kumimoji="1" lang="en-US" altLang="zh-CN" sz="10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ource Han Sans"/>
              </a:rPr>
              <a:t>注意信号的位宽、时钟域和复位信号的正确处理</a:t>
            </a:r>
            <a:r>
              <a:rPr kumimoji="1" lang="en-US" altLang="zh-CN" sz="100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ource Han Sans"/>
              </a:rPr>
              <a:t>。
</a:t>
            </a:r>
            <a:r>
              <a:rPr kumimoji="1" lang="en-US" altLang="zh-CN" sz="10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ource Han Sans"/>
              </a:rPr>
              <a:t>使用官方提供的实例化示例，加快上手速度</a:t>
            </a:r>
            <a:r>
              <a:rPr kumimoji="1" lang="en-US" altLang="zh-CN" sz="100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ource Han Sans"/>
              </a:rPr>
              <a:t>。</a:t>
            </a:r>
            <a:endParaRPr kumimoji="1"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493" name="Shape 1844">
            <a:extLst>
              <a:ext uri="{FF2B5EF4-FFF2-40B4-BE49-F238E27FC236}">
                <a16:creationId xmlns:a16="http://schemas.microsoft.com/office/drawing/2014/main" id="{31AD7ACC-D50E-C335-51B9-404EF56F552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906625" y="5088700"/>
            <a:ext cx="314726" cy="3035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6" y="0"/>
                </a:moveTo>
                <a:lnTo>
                  <a:pt x="1542" y="0"/>
                </a:lnTo>
                <a:cubicBezTo>
                  <a:pt x="690" y="0"/>
                  <a:pt x="0" y="716"/>
                  <a:pt x="0" y="1599"/>
                </a:cubicBezTo>
                <a:lnTo>
                  <a:pt x="0" y="15200"/>
                </a:lnTo>
                <a:cubicBezTo>
                  <a:pt x="0" y="16085"/>
                  <a:pt x="690" y="16801"/>
                  <a:pt x="1542" y="16801"/>
                </a:cubicBezTo>
                <a:lnTo>
                  <a:pt x="5400" y="16801"/>
                </a:lnTo>
                <a:lnTo>
                  <a:pt x="5400" y="21600"/>
                </a:lnTo>
                <a:lnTo>
                  <a:pt x="13885" y="16801"/>
                </a:lnTo>
                <a:lnTo>
                  <a:pt x="20056" y="16801"/>
                </a:lnTo>
                <a:cubicBezTo>
                  <a:pt x="20908" y="16801"/>
                  <a:pt x="21600" y="16085"/>
                  <a:pt x="21600" y="15200"/>
                </a:cubicBezTo>
                <a:lnTo>
                  <a:pt x="21600" y="1599"/>
                </a:lnTo>
                <a:cubicBezTo>
                  <a:pt x="21600" y="716"/>
                  <a:pt x="20908" y="0"/>
                  <a:pt x="20056" y="0"/>
                </a:cubicBezTo>
                <a:close/>
                <a:moveTo>
                  <a:pt x="5400" y="9601"/>
                </a:moveTo>
                <a:cubicBezTo>
                  <a:pt x="4547" y="9601"/>
                  <a:pt x="3857" y="8883"/>
                  <a:pt x="3857" y="8000"/>
                </a:cubicBezTo>
                <a:cubicBezTo>
                  <a:pt x="3857" y="7116"/>
                  <a:pt x="4547" y="6400"/>
                  <a:pt x="5400" y="6400"/>
                </a:cubicBezTo>
                <a:cubicBezTo>
                  <a:pt x="6252" y="6400"/>
                  <a:pt x="6942" y="7116"/>
                  <a:pt x="6942" y="8000"/>
                </a:cubicBezTo>
                <a:cubicBezTo>
                  <a:pt x="6942" y="8883"/>
                  <a:pt x="6252" y="9601"/>
                  <a:pt x="5400" y="9601"/>
                </a:cubicBezTo>
                <a:close/>
                <a:moveTo>
                  <a:pt x="10799" y="9601"/>
                </a:moveTo>
                <a:cubicBezTo>
                  <a:pt x="9947" y="9601"/>
                  <a:pt x="9257" y="8883"/>
                  <a:pt x="9257" y="8000"/>
                </a:cubicBezTo>
                <a:cubicBezTo>
                  <a:pt x="9257" y="7116"/>
                  <a:pt x="9947" y="6400"/>
                  <a:pt x="10799" y="6400"/>
                </a:cubicBezTo>
                <a:cubicBezTo>
                  <a:pt x="11653" y="6400"/>
                  <a:pt x="12343" y="7116"/>
                  <a:pt x="12343" y="8000"/>
                </a:cubicBezTo>
                <a:cubicBezTo>
                  <a:pt x="12343" y="8883"/>
                  <a:pt x="11653" y="9601"/>
                  <a:pt x="10799" y="9601"/>
                </a:cubicBezTo>
                <a:close/>
                <a:moveTo>
                  <a:pt x="16200" y="9601"/>
                </a:moveTo>
                <a:cubicBezTo>
                  <a:pt x="15348" y="9601"/>
                  <a:pt x="14656" y="8883"/>
                  <a:pt x="14656" y="8000"/>
                </a:cubicBezTo>
                <a:cubicBezTo>
                  <a:pt x="14656" y="7116"/>
                  <a:pt x="15348" y="6400"/>
                  <a:pt x="16200" y="6400"/>
                </a:cubicBezTo>
                <a:cubicBezTo>
                  <a:pt x="17052" y="6400"/>
                  <a:pt x="17742" y="7116"/>
                  <a:pt x="17742" y="8000"/>
                </a:cubicBezTo>
                <a:cubicBezTo>
                  <a:pt x="17742" y="8883"/>
                  <a:pt x="17052" y="9601"/>
                  <a:pt x="16200" y="96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81" name="椭圆 5">
            <a:extLst>
              <a:ext uri="{FF2B5EF4-FFF2-40B4-BE49-F238E27FC236}">
                <a16:creationId xmlns:a16="http://schemas.microsoft.com/office/drawing/2014/main" id="{420A071D-0871-59A6-8694-32CBE624CE37}"/>
              </a:ext>
            </a:extLst>
          </p:cNvPr>
          <p:cNvSpPr/>
          <p:nvPr/>
        </p:nvSpPr>
        <p:spPr>
          <a:xfrm>
            <a:off x="10248103" y="2364775"/>
            <a:ext cx="720001" cy="720001"/>
          </a:xfrm>
          <a:prstGeom prst="ellipse">
            <a:avLst/>
          </a:prstGeom>
          <a:solidFill>
            <a:srgbClr val="2A64E3"/>
          </a:solidFill>
          <a:ln w="12700">
            <a:miter lim="400000"/>
          </a:ln>
          <a:effectLst>
            <a:outerShdw blurRad="254000" dist="63500" dir="5400000" rotWithShape="0">
              <a:srgbClr val="535353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pic>
        <p:nvPicPr>
          <p:cNvPr id="494" name="图片 18" descr="图片 18">
            <a:extLst>
              <a:ext uri="{FF2B5EF4-FFF2-40B4-BE49-F238E27FC236}">
                <a16:creationId xmlns:a16="http://schemas.microsoft.com/office/drawing/2014/main" id="{732D6274-E9BF-0EFA-7870-EF0CA57A6394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4753" r="14751"/>
          <a:stretch>
            <a:fillRect/>
          </a:stretch>
        </p:blipFill>
        <p:spPr>
          <a:xfrm>
            <a:off x="7603362" y="2363282"/>
            <a:ext cx="3368676" cy="32629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495" name="椭圆 19">
            <a:extLst>
              <a:ext uri="{FF2B5EF4-FFF2-40B4-BE49-F238E27FC236}">
                <a16:creationId xmlns:a16="http://schemas.microsoft.com/office/drawing/2014/main" id="{EAC64D4A-98E6-0C67-AF16-3E274867A8EC}"/>
              </a:ext>
            </a:extLst>
          </p:cNvPr>
          <p:cNvSpPr/>
          <p:nvPr/>
        </p:nvSpPr>
        <p:spPr>
          <a:xfrm>
            <a:off x="7784875" y="5220749"/>
            <a:ext cx="530139" cy="530139"/>
          </a:xfrm>
          <a:prstGeom prst="ellipse">
            <a:avLst/>
          </a:prstGeom>
          <a:solidFill>
            <a:srgbClr val="004CE5"/>
          </a:solidFill>
          <a:ln w="12700">
            <a:miter lim="400000"/>
          </a:ln>
          <a:effectLst>
            <a:outerShdw blurRad="254000" dist="63500" dir="5400000" rotWithShape="0">
              <a:srgbClr val="535353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96" name="椭圆 20">
            <a:extLst>
              <a:ext uri="{FF2B5EF4-FFF2-40B4-BE49-F238E27FC236}">
                <a16:creationId xmlns:a16="http://schemas.microsoft.com/office/drawing/2014/main" id="{5513193B-2254-DF53-CAF1-D2005E30020C}"/>
              </a:ext>
            </a:extLst>
          </p:cNvPr>
          <p:cNvSpPr/>
          <p:nvPr/>
        </p:nvSpPr>
        <p:spPr>
          <a:xfrm>
            <a:off x="9696399" y="5845248"/>
            <a:ext cx="285005" cy="285005"/>
          </a:xfrm>
          <a:prstGeom prst="ellipse">
            <a:avLst/>
          </a:prstGeom>
          <a:solidFill>
            <a:srgbClr val="2A64E3"/>
          </a:solidFill>
          <a:ln w="12700">
            <a:miter lim="400000"/>
          </a:ln>
          <a:effectLst>
            <a:outerShdw blurRad="254000" dist="63500" dir="5400000" rotWithShape="0">
              <a:srgbClr val="535353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12" name="组合 33">
            <a:extLst>
              <a:ext uri="{FF2B5EF4-FFF2-40B4-BE49-F238E27FC236}">
                <a16:creationId xmlns:a16="http://schemas.microsoft.com/office/drawing/2014/main" id="{D8348340-21D2-9447-928D-01D902B67186}"/>
              </a:ext>
            </a:extLst>
          </p:cNvPr>
          <p:cNvSpPr/>
          <p:nvPr/>
        </p:nvSpPr>
        <p:spPr>
          <a:xfrm>
            <a:off x="8998837" y="425294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Soc</a:t>
            </a:r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搭建</a:t>
            </a:r>
            <a:endParaRPr lang="zh-CN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CC88BB-8435-87BB-5812-235F8A0CE3CC}"/>
              </a:ext>
            </a:extLst>
          </p:cNvPr>
          <p:cNvSpPr/>
          <p:nvPr/>
        </p:nvSpPr>
        <p:spPr>
          <a:xfrm>
            <a:off x="10010968" y="965294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81D638B-C7D9-9C50-BBC1-C073338A7899}"/>
              </a:ext>
            </a:extLst>
          </p:cNvPr>
          <p:cNvSpPr txBox="1"/>
          <p:nvPr/>
        </p:nvSpPr>
        <p:spPr>
          <a:xfrm>
            <a:off x="1440000" y="1968759"/>
            <a:ext cx="469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Soc</a:t>
            </a:r>
            <a:r>
              <a:rPr lang="zh-CN" altLang="en-US" dirty="0"/>
              <a:t>搭建主要分为两部分：</a:t>
            </a:r>
            <a:br>
              <a:rPr lang="en-US" altLang="zh-CN" dirty="0"/>
            </a:b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IP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实例化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信号连接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F173FCA-39BA-D29F-A8FC-C25A7C70B290}"/>
              </a:ext>
            </a:extLst>
          </p:cNvPr>
          <p:cNvSpPr txBox="1"/>
          <p:nvPr/>
        </p:nvSpPr>
        <p:spPr>
          <a:xfrm>
            <a:off x="1655020" y="2973542"/>
            <a:ext cx="836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IP</a:t>
            </a:r>
            <a:r>
              <a:rPr lang="zh-CN" altLang="en-US" sz="1200" dirty="0"/>
              <a:t>实例化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11CE951-F787-997D-184C-088154DA2949}"/>
              </a:ext>
            </a:extLst>
          </p:cNvPr>
          <p:cNvSpPr txBox="1"/>
          <p:nvPr/>
        </p:nvSpPr>
        <p:spPr>
          <a:xfrm>
            <a:off x="1643406" y="4646870"/>
            <a:ext cx="836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信号连接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7675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C4F28-93D7-A26A-3739-E0EAE1FBE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63783ECF-4CCC-8517-A6E2-95A9FB82B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905968CF-7D20-ABB1-C1A4-186DBA4D5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F545D65C-7FAD-E25A-9029-995B55A8FA3B}"/>
              </a:ext>
            </a:extLst>
          </p:cNvPr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左右 1">
            <a:extLst>
              <a:ext uri="{FF2B5EF4-FFF2-40B4-BE49-F238E27FC236}">
                <a16:creationId xmlns:a16="http://schemas.microsoft.com/office/drawing/2014/main" id="{284DA977-36E9-8DCF-59DF-960C537D8BBF}"/>
              </a:ext>
            </a:extLst>
          </p:cNvPr>
          <p:cNvSpPr/>
          <p:nvPr/>
        </p:nvSpPr>
        <p:spPr>
          <a:xfrm>
            <a:off x="1050587" y="3224720"/>
            <a:ext cx="10469900" cy="20428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CD8E4A-7E21-4980-E9CF-AC2A2FBBBE3D}"/>
              </a:ext>
            </a:extLst>
          </p:cNvPr>
          <p:cNvSpPr txBox="1"/>
          <p:nvPr/>
        </p:nvSpPr>
        <p:spPr>
          <a:xfrm>
            <a:off x="1050587" y="2855388"/>
            <a:ext cx="1994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AXI Crossbar</a:t>
            </a:r>
            <a:endParaRPr lang="zh-CN" altLang="en-US" dirty="0"/>
          </a:p>
        </p:txBody>
      </p:sp>
      <p:sp>
        <p:nvSpPr>
          <p:cNvPr id="5" name="箭头: 左右 4">
            <a:extLst>
              <a:ext uri="{FF2B5EF4-FFF2-40B4-BE49-F238E27FC236}">
                <a16:creationId xmlns:a16="http://schemas.microsoft.com/office/drawing/2014/main" id="{43F655F1-26C6-4CB5-1B1A-134EC0B61F02}"/>
              </a:ext>
            </a:extLst>
          </p:cNvPr>
          <p:cNvSpPr/>
          <p:nvPr/>
        </p:nvSpPr>
        <p:spPr>
          <a:xfrm>
            <a:off x="1050587" y="2446828"/>
            <a:ext cx="10469900" cy="20428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2EC910-887F-C010-8378-E72319C8DBB3}"/>
              </a:ext>
            </a:extLst>
          </p:cNvPr>
          <p:cNvSpPr txBox="1"/>
          <p:nvPr/>
        </p:nvSpPr>
        <p:spPr>
          <a:xfrm>
            <a:off x="1050587" y="1975356"/>
            <a:ext cx="1994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AXI CDC</a:t>
            </a:r>
            <a:endParaRPr lang="zh-CN" altLang="en-US" dirty="0"/>
          </a:p>
        </p:txBody>
      </p:sp>
      <p:sp>
        <p:nvSpPr>
          <p:cNvPr id="7" name="箭头: 左右 6">
            <a:extLst>
              <a:ext uri="{FF2B5EF4-FFF2-40B4-BE49-F238E27FC236}">
                <a16:creationId xmlns:a16="http://schemas.microsoft.com/office/drawing/2014/main" id="{32DF0DAA-A6E8-AFA7-4074-10EFB5888ABD}"/>
              </a:ext>
            </a:extLst>
          </p:cNvPr>
          <p:cNvSpPr/>
          <p:nvPr/>
        </p:nvSpPr>
        <p:spPr>
          <a:xfrm>
            <a:off x="1050587" y="4206893"/>
            <a:ext cx="2334639" cy="20428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左右 7">
            <a:extLst>
              <a:ext uri="{FF2B5EF4-FFF2-40B4-BE49-F238E27FC236}">
                <a16:creationId xmlns:a16="http://schemas.microsoft.com/office/drawing/2014/main" id="{B6316D6A-C120-2E1B-990E-AE34C233F724}"/>
              </a:ext>
            </a:extLst>
          </p:cNvPr>
          <p:cNvSpPr/>
          <p:nvPr/>
        </p:nvSpPr>
        <p:spPr>
          <a:xfrm>
            <a:off x="4617396" y="4206893"/>
            <a:ext cx="2334639" cy="20428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07690BB-3532-622C-61A6-D9D5B4F86712}"/>
              </a:ext>
            </a:extLst>
          </p:cNvPr>
          <p:cNvCxnSpPr/>
          <p:nvPr/>
        </p:nvCxnSpPr>
        <p:spPr>
          <a:xfrm>
            <a:off x="2217905" y="3521413"/>
            <a:ext cx="0" cy="6128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97C56C5-905E-A219-3F89-EFFB05074C62}"/>
              </a:ext>
            </a:extLst>
          </p:cNvPr>
          <p:cNvCxnSpPr/>
          <p:nvPr/>
        </p:nvCxnSpPr>
        <p:spPr>
          <a:xfrm>
            <a:off x="5762016" y="3521413"/>
            <a:ext cx="0" cy="6128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D6797784-C5EC-0A03-387B-5D1F28F0076C}"/>
              </a:ext>
            </a:extLst>
          </p:cNvPr>
          <p:cNvSpPr txBox="1"/>
          <p:nvPr/>
        </p:nvSpPr>
        <p:spPr>
          <a:xfrm>
            <a:off x="1173803" y="3699904"/>
            <a:ext cx="2629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AXI to SRAM Bridge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976549-AE2D-8886-2F36-F1A41280E827}"/>
              </a:ext>
            </a:extLst>
          </p:cNvPr>
          <p:cNvSpPr txBox="1"/>
          <p:nvPr/>
        </p:nvSpPr>
        <p:spPr>
          <a:xfrm>
            <a:off x="4780354" y="3699904"/>
            <a:ext cx="2629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AXI to APB Bridge</a:t>
            </a:r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F834426-C92D-E0E4-A1B0-3FF6E59C39DB}"/>
              </a:ext>
            </a:extLst>
          </p:cNvPr>
          <p:cNvCxnSpPr/>
          <p:nvPr/>
        </p:nvCxnSpPr>
        <p:spPr>
          <a:xfrm>
            <a:off x="2217905" y="4481209"/>
            <a:ext cx="0" cy="6128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66973A7-8FB0-2AD6-9D38-D8A80F23D8AE}"/>
              </a:ext>
            </a:extLst>
          </p:cNvPr>
          <p:cNvCxnSpPr/>
          <p:nvPr/>
        </p:nvCxnSpPr>
        <p:spPr>
          <a:xfrm>
            <a:off x="5784715" y="4481209"/>
            <a:ext cx="0" cy="6128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流程图: 决策 15">
            <a:extLst>
              <a:ext uri="{FF2B5EF4-FFF2-40B4-BE49-F238E27FC236}">
                <a16:creationId xmlns:a16="http://schemas.microsoft.com/office/drawing/2014/main" id="{C233AF35-9C67-CC05-76A2-015156DE56F4}"/>
              </a:ext>
            </a:extLst>
          </p:cNvPr>
          <p:cNvSpPr/>
          <p:nvPr/>
        </p:nvSpPr>
        <p:spPr>
          <a:xfrm>
            <a:off x="4408251" y="879778"/>
            <a:ext cx="2752927" cy="924127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AA80CCF-B188-6A54-FBEE-C60944779FC7}"/>
              </a:ext>
            </a:extLst>
          </p:cNvPr>
          <p:cNvSpPr txBox="1"/>
          <p:nvPr/>
        </p:nvSpPr>
        <p:spPr>
          <a:xfrm>
            <a:off x="5107022" y="1142905"/>
            <a:ext cx="1498060" cy="376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OpenLA500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A02A12A-9F6D-BE03-2E6F-B59895A658CE}"/>
              </a:ext>
            </a:extLst>
          </p:cNvPr>
          <p:cNvCxnSpPr/>
          <p:nvPr/>
        </p:nvCxnSpPr>
        <p:spPr>
          <a:xfrm>
            <a:off x="5762016" y="1975356"/>
            <a:ext cx="0" cy="3693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B71AE13-97A1-FB95-ECE1-60FDF07584A4}"/>
              </a:ext>
            </a:extLst>
          </p:cNvPr>
          <p:cNvSpPr/>
          <p:nvPr/>
        </p:nvSpPr>
        <p:spPr>
          <a:xfrm>
            <a:off x="1381328" y="5269149"/>
            <a:ext cx="1663424" cy="12775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5CE510B-474C-5100-588A-0078B5085A1A}"/>
              </a:ext>
            </a:extLst>
          </p:cNvPr>
          <p:cNvSpPr/>
          <p:nvPr/>
        </p:nvSpPr>
        <p:spPr>
          <a:xfrm>
            <a:off x="5302390" y="5243208"/>
            <a:ext cx="919252" cy="12775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6B1C459-BCD4-607B-9FA9-85455BA3E6B9}"/>
              </a:ext>
            </a:extLst>
          </p:cNvPr>
          <p:cNvSpPr/>
          <p:nvPr/>
        </p:nvSpPr>
        <p:spPr>
          <a:xfrm>
            <a:off x="9403405" y="5269149"/>
            <a:ext cx="1663424" cy="12775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87719D1-806C-35F2-9C4E-29C25C820664}"/>
              </a:ext>
            </a:extLst>
          </p:cNvPr>
          <p:cNvSpPr txBox="1"/>
          <p:nvPr/>
        </p:nvSpPr>
        <p:spPr>
          <a:xfrm>
            <a:off x="1620054" y="5723266"/>
            <a:ext cx="1702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板载</a:t>
            </a:r>
            <a:r>
              <a:rPr lang="en-US" altLang="zh-CN" dirty="0"/>
              <a:t>SRAM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804808D-4813-2F4F-3F36-2DFCFE970376}"/>
              </a:ext>
            </a:extLst>
          </p:cNvPr>
          <p:cNvSpPr txBox="1"/>
          <p:nvPr/>
        </p:nvSpPr>
        <p:spPr>
          <a:xfrm>
            <a:off x="5372908" y="5697325"/>
            <a:ext cx="1702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UART</a:t>
            </a:r>
            <a:endParaRPr lang="zh-CN" altLang="en-US" dirty="0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8EE1B818-115D-F270-8DCB-CBF783101CAD}"/>
              </a:ext>
            </a:extLst>
          </p:cNvPr>
          <p:cNvSpPr/>
          <p:nvPr/>
        </p:nvSpPr>
        <p:spPr>
          <a:xfrm>
            <a:off x="4764927" y="5590321"/>
            <a:ext cx="519639" cy="10700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F3AF634B-5F4B-68C7-1106-B25CA1533EE9}"/>
              </a:ext>
            </a:extLst>
          </p:cNvPr>
          <p:cNvSpPr/>
          <p:nvPr/>
        </p:nvSpPr>
        <p:spPr>
          <a:xfrm rot="10800000">
            <a:off x="4761714" y="6013155"/>
            <a:ext cx="519639" cy="10700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2BBABCD-0464-9FB4-4254-647A7CF8ADAF}"/>
              </a:ext>
            </a:extLst>
          </p:cNvPr>
          <p:cNvSpPr txBox="1"/>
          <p:nvPr/>
        </p:nvSpPr>
        <p:spPr>
          <a:xfrm>
            <a:off x="4761713" y="5266385"/>
            <a:ext cx="1702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RX</a:t>
            </a:r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46F5B8E-C106-FBA8-2E56-3195AC1C1D7E}"/>
              </a:ext>
            </a:extLst>
          </p:cNvPr>
          <p:cNvSpPr txBox="1"/>
          <p:nvPr/>
        </p:nvSpPr>
        <p:spPr>
          <a:xfrm>
            <a:off x="4780354" y="5705431"/>
            <a:ext cx="1702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TX</a:t>
            </a:r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317F08D-924A-1A34-C968-FA000D3B6313}"/>
              </a:ext>
            </a:extLst>
          </p:cNvPr>
          <p:cNvCxnSpPr/>
          <p:nvPr/>
        </p:nvCxnSpPr>
        <p:spPr>
          <a:xfrm>
            <a:off x="10149191" y="3521413"/>
            <a:ext cx="0" cy="15726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41A13EBD-D071-2C99-F0F0-56CAEA5B6B12}"/>
              </a:ext>
            </a:extLst>
          </p:cNvPr>
          <p:cNvSpPr txBox="1"/>
          <p:nvPr/>
        </p:nvSpPr>
        <p:spPr>
          <a:xfrm>
            <a:off x="9720775" y="5723266"/>
            <a:ext cx="1702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Confreg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4F4F0AA-B501-D2C7-7828-D240D2D0EDC0}"/>
              </a:ext>
            </a:extLst>
          </p:cNvPr>
          <p:cNvSpPr/>
          <p:nvPr/>
        </p:nvSpPr>
        <p:spPr>
          <a:xfrm>
            <a:off x="10010968" y="965294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组合 33">
            <a:extLst>
              <a:ext uri="{FF2B5EF4-FFF2-40B4-BE49-F238E27FC236}">
                <a16:creationId xmlns:a16="http://schemas.microsoft.com/office/drawing/2014/main" id="{92E5490C-AEE5-D093-F9B2-D0B5F4222374}"/>
              </a:ext>
            </a:extLst>
          </p:cNvPr>
          <p:cNvSpPr/>
          <p:nvPr/>
        </p:nvSpPr>
        <p:spPr>
          <a:xfrm>
            <a:off x="8998837" y="425294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Soc</a:t>
            </a:r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基本结构</a:t>
            </a:r>
            <a:endParaRPr lang="zh-CN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2585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9D729-E6D2-1875-EE3B-740296E57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A4EB1CE9-5A59-8A9F-4303-1BC0672525F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624413AF-77C9-0748-5952-BCF6858B86E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323" name="矩形: 圆顶角 47">
            <a:extLst>
              <a:ext uri="{FF2B5EF4-FFF2-40B4-BE49-F238E27FC236}">
                <a16:creationId xmlns:a16="http://schemas.microsoft.com/office/drawing/2014/main" id="{90595605-72D2-A8E4-B117-BE3BB3032A6D}"/>
              </a:ext>
            </a:extLst>
          </p:cNvPr>
          <p:cNvSpPr/>
          <p:nvPr/>
        </p:nvSpPr>
        <p:spPr>
          <a:xfrm rot="16200000">
            <a:off x="1080000" y="2160000"/>
            <a:ext cx="1728000" cy="14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2" y="0"/>
                </a:moveTo>
                <a:lnTo>
                  <a:pt x="20228" y="0"/>
                </a:lnTo>
                <a:cubicBezTo>
                  <a:pt x="20986" y="0"/>
                  <a:pt x="21600" y="752"/>
                  <a:pt x="21600" y="167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679"/>
                </a:lnTo>
                <a:cubicBezTo>
                  <a:pt x="0" y="752"/>
                  <a:pt x="614" y="0"/>
                  <a:pt x="1372" y="0"/>
                </a:cubicBezTo>
                <a:close/>
              </a:path>
            </a:pathLst>
          </a:custGeom>
          <a:gradFill>
            <a:gsLst>
              <a:gs pos="0">
                <a:srgbClr val="2A64E3"/>
              </a:gs>
              <a:gs pos="100000">
                <a:srgbClr val="27A4AA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24" name="文本框 6">
            <a:extLst>
              <a:ext uri="{FF2B5EF4-FFF2-40B4-BE49-F238E27FC236}">
                <a16:creationId xmlns:a16="http://schemas.microsoft.com/office/drawing/2014/main" id="{B4A2821C-F09F-C714-A55D-92A5CDD5840E}"/>
              </a:ext>
            </a:extLst>
          </p:cNvPr>
          <p:cNvSpPr txBox="1"/>
          <p:nvPr/>
        </p:nvSpPr>
        <p:spPr>
          <a:xfrm>
            <a:off x="1476000" y="2448000"/>
            <a:ext cx="938505" cy="81026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lnSpc>
                <a:spcPct val="130000"/>
              </a:lnSpc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>
                <a:latin typeface="HarmonyOS Sans SC Medium" panose="00000600000000000000" charset="-122"/>
                <a:ea typeface="HarmonyOS Sans SC Medium" panose="00000600000000000000" charset="-122"/>
              </a:rPr>
              <a:t>重点</a:t>
            </a:r>
          </a:p>
          <a:p>
            <a:r>
              <a:rPr>
                <a:latin typeface="HarmonyOS Sans SC Medium" panose="00000600000000000000" charset="-122"/>
                <a:ea typeface="HarmonyOS Sans SC Medium" panose="00000600000000000000" charset="-122"/>
              </a:rPr>
              <a:t>概述</a:t>
            </a:r>
          </a:p>
        </p:txBody>
      </p:sp>
      <p:sp>
        <p:nvSpPr>
          <p:cNvPr id="325" name="矩形: 圆角 19">
            <a:extLst>
              <a:ext uri="{FF2B5EF4-FFF2-40B4-BE49-F238E27FC236}">
                <a16:creationId xmlns:a16="http://schemas.microsoft.com/office/drawing/2014/main" id="{9BD47045-446C-C18D-57D7-62D3614B092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880000" y="2016000"/>
            <a:ext cx="7634968" cy="172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" y="0"/>
                </a:moveTo>
                <a:lnTo>
                  <a:pt x="21066" y="0"/>
                </a:lnTo>
                <a:cubicBezTo>
                  <a:pt x="21361" y="0"/>
                  <a:pt x="21600" y="547"/>
                  <a:pt x="21600" y="1221"/>
                </a:cubicBezTo>
                <a:lnTo>
                  <a:pt x="21600" y="20379"/>
                </a:lnTo>
                <a:cubicBezTo>
                  <a:pt x="21600" y="21053"/>
                  <a:pt x="21361" y="21600"/>
                  <a:pt x="21066" y="21600"/>
                </a:cubicBezTo>
                <a:lnTo>
                  <a:pt x="534" y="21600"/>
                </a:lnTo>
                <a:cubicBezTo>
                  <a:pt x="239" y="21600"/>
                  <a:pt x="0" y="21053"/>
                  <a:pt x="0" y="20379"/>
                </a:cubicBezTo>
                <a:lnTo>
                  <a:pt x="0" y="1221"/>
                </a:lnTo>
                <a:cubicBezTo>
                  <a:pt x="0" y="547"/>
                  <a:pt x="239" y="0"/>
                  <a:pt x="534" y="0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26" name="文本框 8">
            <a:extLst>
              <a:ext uri="{FF2B5EF4-FFF2-40B4-BE49-F238E27FC236}">
                <a16:creationId xmlns:a16="http://schemas.microsoft.com/office/drawing/2014/main" id="{D7E0673F-06F2-8855-10E7-BC3D05E9154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998836" y="2145637"/>
            <a:ext cx="1012131" cy="92333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5400">
                <a:solidFill>
                  <a:srgbClr val="A6A6A6">
                    <a:alpha val="15000"/>
                  </a:srgbClr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r"/>
            <a:r>
              <a:rPr lang="en-US" dirty="0">
                <a:latin typeface="HarmonyOS Sans SC Black" panose="00000A00000000000000" charset="-122"/>
                <a:ea typeface="HarmonyOS Sans SC Black" panose="00000A00000000000000" charset="-122"/>
              </a:rPr>
              <a:t>01</a:t>
            </a:r>
          </a:p>
        </p:txBody>
      </p:sp>
      <p:sp>
        <p:nvSpPr>
          <p:cNvPr id="329" name="矩形: 圆顶角 63">
            <a:extLst>
              <a:ext uri="{FF2B5EF4-FFF2-40B4-BE49-F238E27FC236}">
                <a16:creationId xmlns:a16="http://schemas.microsoft.com/office/drawing/2014/main" id="{6B11894A-56B5-AC55-D3A8-7A84CE5042D3}"/>
              </a:ext>
            </a:extLst>
          </p:cNvPr>
          <p:cNvSpPr/>
          <p:nvPr/>
        </p:nvSpPr>
        <p:spPr>
          <a:xfrm rot="16200000">
            <a:off x="1080000" y="4320000"/>
            <a:ext cx="1728000" cy="14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2" y="0"/>
                </a:moveTo>
                <a:lnTo>
                  <a:pt x="20228" y="0"/>
                </a:lnTo>
                <a:cubicBezTo>
                  <a:pt x="20986" y="0"/>
                  <a:pt x="21600" y="752"/>
                  <a:pt x="21600" y="167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679"/>
                </a:lnTo>
                <a:cubicBezTo>
                  <a:pt x="0" y="752"/>
                  <a:pt x="614" y="0"/>
                  <a:pt x="1372" y="0"/>
                </a:cubicBezTo>
                <a:close/>
              </a:path>
            </a:pathLst>
          </a:custGeom>
          <a:gradFill>
            <a:gsLst>
              <a:gs pos="0">
                <a:srgbClr val="2A64E3"/>
              </a:gs>
              <a:gs pos="100000">
                <a:srgbClr val="27A4AA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30" name="文本框 12">
            <a:extLst>
              <a:ext uri="{FF2B5EF4-FFF2-40B4-BE49-F238E27FC236}">
                <a16:creationId xmlns:a16="http://schemas.microsoft.com/office/drawing/2014/main" id="{C7CA2E14-7C65-13CB-F55F-7C3BA54945B8}"/>
              </a:ext>
            </a:extLst>
          </p:cNvPr>
          <p:cNvSpPr txBox="1"/>
          <p:nvPr/>
        </p:nvSpPr>
        <p:spPr>
          <a:xfrm>
            <a:off x="1476000" y="4608245"/>
            <a:ext cx="938505" cy="81026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lnSpc>
                <a:spcPct val="130000"/>
              </a:lnSpc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>
                <a:latin typeface="HarmonyOS Sans SC Medium" panose="00000600000000000000" charset="-122"/>
                <a:ea typeface="HarmonyOS Sans SC Medium" panose="00000600000000000000" charset="-122"/>
              </a:rPr>
              <a:t>重点</a:t>
            </a:r>
          </a:p>
          <a:p>
            <a:r>
              <a:rPr>
                <a:latin typeface="HarmonyOS Sans SC Medium" panose="00000600000000000000" charset="-122"/>
                <a:ea typeface="HarmonyOS Sans SC Medium" panose="00000600000000000000" charset="-122"/>
              </a:rPr>
              <a:t>概述</a:t>
            </a:r>
          </a:p>
        </p:txBody>
      </p:sp>
      <p:sp>
        <p:nvSpPr>
          <p:cNvPr id="335" name="文本框 17">
            <a:extLst>
              <a:ext uri="{FF2B5EF4-FFF2-40B4-BE49-F238E27FC236}">
                <a16:creationId xmlns:a16="http://schemas.microsoft.com/office/drawing/2014/main" id="{D5EA9881-A307-8C45-2A34-9EDDBF851BB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27404" y="2207148"/>
            <a:ext cx="1943698" cy="3683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ctr"/>
            <a:r>
              <a:rPr kumimoji="1" lang="zh-CN" altLang="en-US" sz="1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</a:rPr>
              <a:t>编译测试程序</a:t>
            </a:r>
            <a:endParaRPr lang="zh-CN" altLang="en-US" sz="18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36" name="文本框 18">
            <a:extLst>
              <a:ext uri="{FF2B5EF4-FFF2-40B4-BE49-F238E27FC236}">
                <a16:creationId xmlns:a16="http://schemas.microsoft.com/office/drawing/2014/main" id="{071D54D2-7818-D29F-0FA9-7A42A81F972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096000" y="2658564"/>
            <a:ext cx="4705714" cy="94320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kumimoji="1" lang="zh-CN" altLang="en-US" sz="14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n-ea"/>
                <a:ea typeface="+mn-ea"/>
                <a:cs typeface="Source Han Sans"/>
              </a:rPr>
              <a:t>在</a:t>
            </a:r>
            <a:r>
              <a:rPr kumimoji="1" lang="en-US" altLang="zh-CN" sz="14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n-ea"/>
                <a:ea typeface="+mn-ea"/>
                <a:cs typeface="Source Han Sans"/>
              </a:rPr>
              <a:t>wsl</a:t>
            </a:r>
            <a:r>
              <a:rPr kumimoji="1" lang="zh-CN" altLang="en-US" sz="14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n-ea"/>
                <a:ea typeface="+mn-ea"/>
                <a:cs typeface="Source Han Sans"/>
              </a:rPr>
              <a:t>编译</a:t>
            </a:r>
            <a:r>
              <a:rPr kumimoji="1" lang="en-US" altLang="zh-CN" sz="14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  <a:ea typeface="+mn-ea"/>
                <a:cs typeface="Source Han Sans"/>
              </a:rPr>
              <a:t> </a:t>
            </a:r>
            <a:r>
              <a:rPr kumimoji="1" lang="en-US" altLang="zh-CN" sz="1400" b="1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  <a:ea typeface="+mn-ea"/>
                <a:cs typeface="Source Han Sans"/>
              </a:rPr>
              <a:t>Hello_World</a:t>
            </a:r>
            <a:r>
              <a:rPr kumimoji="1" lang="en-US" altLang="zh-CN" sz="14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  <a:ea typeface="+mn-ea"/>
                <a:cs typeface="Source Han Sans"/>
              </a:rPr>
              <a:t> </a:t>
            </a:r>
            <a:r>
              <a:rPr kumimoji="1" lang="en-US" altLang="zh-CN" sz="1400" b="1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  <a:ea typeface="+mn-ea"/>
                <a:cs typeface="Source Han Sans"/>
              </a:rPr>
              <a:t>程序，用于验证</a:t>
            </a:r>
            <a:r>
              <a:rPr kumimoji="1" lang="en-US" altLang="zh-CN" sz="14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  <a:ea typeface="+mn-ea"/>
                <a:cs typeface="Source Han Sans"/>
              </a:rPr>
              <a:t> SoC </a:t>
            </a:r>
            <a:r>
              <a:rPr kumimoji="1" lang="en-US" altLang="zh-CN" sz="1400" b="1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  <a:ea typeface="+mn-ea"/>
                <a:cs typeface="Source Han Sans"/>
              </a:rPr>
              <a:t>的基本功能</a:t>
            </a:r>
            <a:r>
              <a:rPr kumimoji="1" lang="en-US" altLang="zh-CN" sz="14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  <a:ea typeface="+mn-ea"/>
                <a:cs typeface="Source Han Sans"/>
              </a:rPr>
              <a:t>。
</a:t>
            </a:r>
            <a:r>
              <a:rPr kumimoji="1" lang="zh-CN" altLang="en-US" sz="14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  <a:ea typeface="+mn-ea"/>
                <a:cs typeface="Source Han Sans"/>
              </a:rPr>
              <a:t>编译</a:t>
            </a:r>
            <a:r>
              <a:rPr kumimoji="1" lang="en-US" altLang="zh-CN" sz="1400" b="1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  <a:ea typeface="+mn-ea"/>
                <a:cs typeface="Source Han Sans"/>
              </a:rPr>
              <a:t>功能测试程序，进行</a:t>
            </a:r>
            <a:r>
              <a:rPr kumimoji="1" lang="en-US" altLang="zh-CN" sz="14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  <a:ea typeface="+mn-ea"/>
                <a:cs typeface="Source Han Sans"/>
              </a:rPr>
              <a:t> CoreMark </a:t>
            </a:r>
            <a:r>
              <a:rPr kumimoji="1" lang="en-US" altLang="zh-CN" sz="1400" b="1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  <a:ea typeface="+mn-ea"/>
                <a:cs typeface="Source Han Sans"/>
              </a:rPr>
              <a:t>测试和外设功能测试</a:t>
            </a:r>
            <a:r>
              <a:rPr kumimoji="1" lang="en-US" altLang="zh-CN" sz="14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  <a:ea typeface="+mn-ea"/>
                <a:cs typeface="Source Han Sans"/>
              </a:rPr>
              <a:t>。</a:t>
            </a:r>
            <a:br>
              <a:rPr kumimoji="1" lang="zh-CN" altLang="en-US" sz="800" b="1" dirty="0"/>
            </a:br>
            <a:endParaRPr b="1" dirty="0"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337" name="矩形: 圆角 61">
            <a:extLst>
              <a:ext uri="{FF2B5EF4-FFF2-40B4-BE49-F238E27FC236}">
                <a16:creationId xmlns:a16="http://schemas.microsoft.com/office/drawing/2014/main" id="{7DE3EBA2-7145-BDE6-F19A-57D8CEA6CE6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168000" y="2232000"/>
            <a:ext cx="319066" cy="319065"/>
          </a:xfrm>
          <a:prstGeom prst="roundRect">
            <a:avLst>
              <a:gd name="adj" fmla="val 16667"/>
            </a:avLst>
          </a:prstGeom>
          <a:solidFill>
            <a:srgbClr val="004CE5"/>
          </a:solidFill>
          <a:ln w="12700">
            <a:miter lim="400000"/>
          </a:ln>
          <a:effectLst>
            <a:outerShdw blurRad="203200" dist="635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47" name="instructor-giving-a-lecture-with-circular-graphic-on-screen_43194">
            <a:extLst>
              <a:ext uri="{FF2B5EF4-FFF2-40B4-BE49-F238E27FC236}">
                <a16:creationId xmlns:a16="http://schemas.microsoft.com/office/drawing/2014/main" id="{7CAA03FC-556B-F3FC-7553-5A2AD58C503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235785" y="2307471"/>
            <a:ext cx="182031" cy="1676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66" y="5347"/>
                </a:moveTo>
                <a:lnTo>
                  <a:pt x="14916" y="15183"/>
                </a:lnTo>
                <a:lnTo>
                  <a:pt x="14857" y="15310"/>
                </a:lnTo>
                <a:lnTo>
                  <a:pt x="14740" y="15376"/>
                </a:lnTo>
                <a:lnTo>
                  <a:pt x="12335" y="16340"/>
                </a:lnTo>
                <a:lnTo>
                  <a:pt x="11748" y="16599"/>
                </a:lnTo>
                <a:lnTo>
                  <a:pt x="11748" y="15954"/>
                </a:lnTo>
                <a:lnTo>
                  <a:pt x="11809" y="13248"/>
                </a:lnTo>
                <a:lnTo>
                  <a:pt x="11809" y="13121"/>
                </a:lnTo>
                <a:lnTo>
                  <a:pt x="11865" y="12991"/>
                </a:lnTo>
                <a:lnTo>
                  <a:pt x="18493" y="3027"/>
                </a:lnTo>
                <a:lnTo>
                  <a:pt x="18727" y="2641"/>
                </a:lnTo>
                <a:lnTo>
                  <a:pt x="19078" y="2900"/>
                </a:lnTo>
                <a:lnTo>
                  <a:pt x="21249" y="4703"/>
                </a:lnTo>
                <a:lnTo>
                  <a:pt x="21600" y="4962"/>
                </a:lnTo>
                <a:lnTo>
                  <a:pt x="21366" y="5347"/>
                </a:lnTo>
                <a:close/>
                <a:moveTo>
                  <a:pt x="19298" y="7128"/>
                </a:moveTo>
                <a:lnTo>
                  <a:pt x="17715" y="5880"/>
                </a:lnTo>
                <a:lnTo>
                  <a:pt x="12626" y="13463"/>
                </a:lnTo>
                <a:lnTo>
                  <a:pt x="12585" y="15415"/>
                </a:lnTo>
                <a:lnTo>
                  <a:pt x="14322" y="14716"/>
                </a:lnTo>
                <a:lnTo>
                  <a:pt x="19298" y="7128"/>
                </a:lnTo>
                <a:close/>
                <a:moveTo>
                  <a:pt x="18216" y="5133"/>
                </a:moveTo>
                <a:lnTo>
                  <a:pt x="19791" y="6376"/>
                </a:lnTo>
                <a:lnTo>
                  <a:pt x="20468" y="5345"/>
                </a:lnTo>
                <a:lnTo>
                  <a:pt x="18930" y="4067"/>
                </a:lnTo>
                <a:lnTo>
                  <a:pt x="18216" y="5133"/>
                </a:lnTo>
                <a:close/>
                <a:moveTo>
                  <a:pt x="4068" y="16692"/>
                </a:moveTo>
                <a:lnTo>
                  <a:pt x="3615" y="16692"/>
                </a:lnTo>
                <a:cubicBezTo>
                  <a:pt x="3116" y="16692"/>
                  <a:pt x="2711" y="16253"/>
                  <a:pt x="2711" y="15710"/>
                </a:cubicBezTo>
                <a:cubicBezTo>
                  <a:pt x="2711" y="15168"/>
                  <a:pt x="3116" y="14728"/>
                  <a:pt x="3615" y="14728"/>
                </a:cubicBezTo>
                <a:lnTo>
                  <a:pt x="4068" y="14728"/>
                </a:lnTo>
                <a:cubicBezTo>
                  <a:pt x="4567" y="14728"/>
                  <a:pt x="4972" y="15168"/>
                  <a:pt x="4972" y="15710"/>
                </a:cubicBezTo>
                <a:cubicBezTo>
                  <a:pt x="4972" y="16253"/>
                  <a:pt x="4567" y="16692"/>
                  <a:pt x="4068" y="16692"/>
                </a:cubicBezTo>
                <a:close/>
                <a:moveTo>
                  <a:pt x="4068" y="6872"/>
                </a:moveTo>
                <a:lnTo>
                  <a:pt x="3615" y="6872"/>
                </a:lnTo>
                <a:cubicBezTo>
                  <a:pt x="3116" y="6872"/>
                  <a:pt x="2711" y="6432"/>
                  <a:pt x="2711" y="5890"/>
                </a:cubicBezTo>
                <a:cubicBezTo>
                  <a:pt x="2711" y="5347"/>
                  <a:pt x="3116" y="4908"/>
                  <a:pt x="3615" y="4908"/>
                </a:cubicBezTo>
                <a:lnTo>
                  <a:pt x="4068" y="4908"/>
                </a:lnTo>
                <a:cubicBezTo>
                  <a:pt x="4567" y="4908"/>
                  <a:pt x="4972" y="5347"/>
                  <a:pt x="4972" y="5890"/>
                </a:cubicBezTo>
                <a:cubicBezTo>
                  <a:pt x="4972" y="6432"/>
                  <a:pt x="4567" y="6872"/>
                  <a:pt x="4068" y="6872"/>
                </a:cubicBezTo>
                <a:close/>
                <a:moveTo>
                  <a:pt x="4068" y="11782"/>
                </a:moveTo>
                <a:lnTo>
                  <a:pt x="3615" y="11782"/>
                </a:lnTo>
                <a:cubicBezTo>
                  <a:pt x="3116" y="11782"/>
                  <a:pt x="2711" y="11342"/>
                  <a:pt x="2711" y="10800"/>
                </a:cubicBezTo>
                <a:cubicBezTo>
                  <a:pt x="2711" y="10258"/>
                  <a:pt x="3116" y="9818"/>
                  <a:pt x="3615" y="9818"/>
                </a:cubicBezTo>
                <a:lnTo>
                  <a:pt x="4068" y="9818"/>
                </a:lnTo>
                <a:cubicBezTo>
                  <a:pt x="4567" y="9818"/>
                  <a:pt x="4972" y="10258"/>
                  <a:pt x="4972" y="10800"/>
                </a:cubicBezTo>
                <a:cubicBezTo>
                  <a:pt x="4972" y="11342"/>
                  <a:pt x="4567" y="11782"/>
                  <a:pt x="4068" y="11782"/>
                </a:cubicBezTo>
                <a:close/>
                <a:moveTo>
                  <a:pt x="7233" y="14728"/>
                </a:moveTo>
                <a:lnTo>
                  <a:pt x="9042" y="14728"/>
                </a:lnTo>
                <a:cubicBezTo>
                  <a:pt x="9541" y="14728"/>
                  <a:pt x="9946" y="15168"/>
                  <a:pt x="9946" y="15710"/>
                </a:cubicBezTo>
                <a:cubicBezTo>
                  <a:pt x="9946" y="16253"/>
                  <a:pt x="9541" y="16692"/>
                  <a:pt x="9042" y="16692"/>
                </a:cubicBezTo>
                <a:lnTo>
                  <a:pt x="7233" y="16692"/>
                </a:lnTo>
                <a:cubicBezTo>
                  <a:pt x="6734" y="16692"/>
                  <a:pt x="6329" y="16253"/>
                  <a:pt x="6329" y="15710"/>
                </a:cubicBezTo>
                <a:cubicBezTo>
                  <a:pt x="6329" y="15168"/>
                  <a:pt x="6734" y="14728"/>
                  <a:pt x="7233" y="14728"/>
                </a:cubicBezTo>
                <a:close/>
                <a:moveTo>
                  <a:pt x="6329" y="5890"/>
                </a:moveTo>
                <a:cubicBezTo>
                  <a:pt x="6329" y="5347"/>
                  <a:pt x="6734" y="4908"/>
                  <a:pt x="7233" y="4908"/>
                </a:cubicBezTo>
                <a:lnTo>
                  <a:pt x="13564" y="4908"/>
                </a:lnTo>
                <a:cubicBezTo>
                  <a:pt x="14063" y="4908"/>
                  <a:pt x="14468" y="5347"/>
                  <a:pt x="14468" y="5890"/>
                </a:cubicBezTo>
                <a:cubicBezTo>
                  <a:pt x="14468" y="6432"/>
                  <a:pt x="14063" y="6872"/>
                  <a:pt x="13564" y="6872"/>
                </a:cubicBezTo>
                <a:lnTo>
                  <a:pt x="7233" y="6872"/>
                </a:lnTo>
                <a:cubicBezTo>
                  <a:pt x="6734" y="6872"/>
                  <a:pt x="6329" y="6432"/>
                  <a:pt x="6329" y="5890"/>
                </a:cubicBezTo>
                <a:close/>
                <a:moveTo>
                  <a:pt x="10398" y="11782"/>
                </a:moveTo>
                <a:lnTo>
                  <a:pt x="7233" y="11782"/>
                </a:lnTo>
                <a:cubicBezTo>
                  <a:pt x="6734" y="11782"/>
                  <a:pt x="6329" y="11342"/>
                  <a:pt x="6329" y="10800"/>
                </a:cubicBezTo>
                <a:cubicBezTo>
                  <a:pt x="6329" y="10258"/>
                  <a:pt x="6734" y="9818"/>
                  <a:pt x="7233" y="9818"/>
                </a:cubicBezTo>
                <a:lnTo>
                  <a:pt x="10398" y="9818"/>
                </a:lnTo>
                <a:cubicBezTo>
                  <a:pt x="10898" y="9818"/>
                  <a:pt x="11303" y="10258"/>
                  <a:pt x="11303" y="10800"/>
                </a:cubicBezTo>
                <a:cubicBezTo>
                  <a:pt x="11303" y="11342"/>
                  <a:pt x="10898" y="11782"/>
                  <a:pt x="10398" y="11782"/>
                </a:cubicBezTo>
                <a:close/>
                <a:moveTo>
                  <a:pt x="17859" y="1964"/>
                </a:moveTo>
                <a:cubicBezTo>
                  <a:pt x="17778" y="1964"/>
                  <a:pt x="17703" y="1940"/>
                  <a:pt x="17631" y="1913"/>
                </a:cubicBezTo>
                <a:lnTo>
                  <a:pt x="17631" y="1964"/>
                </a:lnTo>
                <a:lnTo>
                  <a:pt x="17505" y="1964"/>
                </a:lnTo>
                <a:cubicBezTo>
                  <a:pt x="17350" y="1671"/>
                  <a:pt x="17062" y="1473"/>
                  <a:pt x="16727" y="1473"/>
                </a:cubicBezTo>
                <a:lnTo>
                  <a:pt x="2259" y="1473"/>
                </a:lnTo>
                <a:cubicBezTo>
                  <a:pt x="1759" y="1473"/>
                  <a:pt x="1354" y="1913"/>
                  <a:pt x="1354" y="2453"/>
                </a:cubicBezTo>
                <a:lnTo>
                  <a:pt x="1354" y="19147"/>
                </a:lnTo>
                <a:cubicBezTo>
                  <a:pt x="1354" y="19690"/>
                  <a:pt x="1759" y="20127"/>
                  <a:pt x="2259" y="20127"/>
                </a:cubicBezTo>
                <a:lnTo>
                  <a:pt x="16727" y="20127"/>
                </a:lnTo>
                <a:cubicBezTo>
                  <a:pt x="17226" y="20127"/>
                  <a:pt x="17631" y="19690"/>
                  <a:pt x="17631" y="19147"/>
                </a:cubicBezTo>
                <a:lnTo>
                  <a:pt x="17631" y="13746"/>
                </a:lnTo>
                <a:lnTo>
                  <a:pt x="17679" y="13746"/>
                </a:lnTo>
                <a:cubicBezTo>
                  <a:pt x="17652" y="13668"/>
                  <a:pt x="17631" y="13587"/>
                  <a:pt x="17631" y="13499"/>
                </a:cubicBezTo>
                <a:cubicBezTo>
                  <a:pt x="17631" y="13094"/>
                  <a:pt x="17935" y="12764"/>
                  <a:pt x="18311" y="12764"/>
                </a:cubicBezTo>
                <a:cubicBezTo>
                  <a:pt x="18684" y="12764"/>
                  <a:pt x="18988" y="13094"/>
                  <a:pt x="18988" y="13499"/>
                </a:cubicBezTo>
                <a:cubicBezTo>
                  <a:pt x="18988" y="13587"/>
                  <a:pt x="18968" y="13668"/>
                  <a:pt x="18943" y="13746"/>
                </a:cubicBezTo>
                <a:lnTo>
                  <a:pt x="18988" y="13746"/>
                </a:lnTo>
                <a:lnTo>
                  <a:pt x="18988" y="19147"/>
                </a:lnTo>
                <a:cubicBezTo>
                  <a:pt x="18988" y="20501"/>
                  <a:pt x="17976" y="21600"/>
                  <a:pt x="16727" y="21600"/>
                </a:cubicBezTo>
                <a:lnTo>
                  <a:pt x="2259" y="21600"/>
                </a:lnTo>
                <a:cubicBezTo>
                  <a:pt x="1010" y="21600"/>
                  <a:pt x="0" y="20501"/>
                  <a:pt x="0" y="19147"/>
                </a:cubicBezTo>
                <a:lnTo>
                  <a:pt x="0" y="2453"/>
                </a:lnTo>
                <a:cubicBezTo>
                  <a:pt x="0" y="1097"/>
                  <a:pt x="1010" y="0"/>
                  <a:pt x="2259" y="0"/>
                </a:cubicBezTo>
                <a:lnTo>
                  <a:pt x="16727" y="0"/>
                </a:lnTo>
                <a:cubicBezTo>
                  <a:pt x="17292" y="0"/>
                  <a:pt x="17802" y="230"/>
                  <a:pt x="18196" y="601"/>
                </a:cubicBezTo>
                <a:cubicBezTo>
                  <a:pt x="18311" y="677"/>
                  <a:pt x="18408" y="779"/>
                  <a:pt x="18466" y="911"/>
                </a:cubicBezTo>
                <a:cubicBezTo>
                  <a:pt x="18484" y="936"/>
                  <a:pt x="18509" y="955"/>
                  <a:pt x="18527" y="982"/>
                </a:cubicBezTo>
                <a:lnTo>
                  <a:pt x="18491" y="982"/>
                </a:lnTo>
                <a:cubicBezTo>
                  <a:pt x="18518" y="1058"/>
                  <a:pt x="18536" y="1138"/>
                  <a:pt x="18536" y="1226"/>
                </a:cubicBezTo>
                <a:cubicBezTo>
                  <a:pt x="18536" y="1632"/>
                  <a:pt x="18232" y="1964"/>
                  <a:pt x="17859" y="196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50DC538-03A3-9EAF-5CE1-215B81065E12}"/>
              </a:ext>
            </a:extLst>
          </p:cNvPr>
          <p:cNvSpPr/>
          <p:nvPr/>
        </p:nvSpPr>
        <p:spPr>
          <a:xfrm>
            <a:off x="10010968" y="965294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组合 33">
            <a:extLst>
              <a:ext uri="{FF2B5EF4-FFF2-40B4-BE49-F238E27FC236}">
                <a16:creationId xmlns:a16="http://schemas.microsoft.com/office/drawing/2014/main" id="{B32DB615-8806-FF16-255B-314C9DC47C1D}"/>
              </a:ext>
            </a:extLst>
          </p:cNvPr>
          <p:cNvSpPr/>
          <p:nvPr/>
        </p:nvSpPr>
        <p:spPr>
          <a:xfrm>
            <a:off x="8998837" y="425294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功能仿真</a:t>
            </a:r>
            <a:endParaRPr lang="zh-CN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8" name="矩形: 圆角 19">
            <a:extLst>
              <a:ext uri="{FF2B5EF4-FFF2-40B4-BE49-F238E27FC236}">
                <a16:creationId xmlns:a16="http://schemas.microsoft.com/office/drawing/2014/main" id="{643CBEAD-928C-F485-F9F7-6C1A75C30E4D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916000" y="4176000"/>
            <a:ext cx="7634968" cy="172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" y="0"/>
                </a:moveTo>
                <a:lnTo>
                  <a:pt x="21066" y="0"/>
                </a:lnTo>
                <a:cubicBezTo>
                  <a:pt x="21361" y="0"/>
                  <a:pt x="21600" y="547"/>
                  <a:pt x="21600" y="1221"/>
                </a:cubicBezTo>
                <a:lnTo>
                  <a:pt x="21600" y="20379"/>
                </a:lnTo>
                <a:cubicBezTo>
                  <a:pt x="21600" y="21053"/>
                  <a:pt x="21361" y="21600"/>
                  <a:pt x="21066" y="21600"/>
                </a:cubicBezTo>
                <a:lnTo>
                  <a:pt x="534" y="21600"/>
                </a:lnTo>
                <a:cubicBezTo>
                  <a:pt x="239" y="21600"/>
                  <a:pt x="0" y="21053"/>
                  <a:pt x="0" y="20379"/>
                </a:cubicBezTo>
                <a:lnTo>
                  <a:pt x="0" y="1221"/>
                </a:lnTo>
                <a:cubicBezTo>
                  <a:pt x="0" y="547"/>
                  <a:pt x="239" y="0"/>
                  <a:pt x="534" y="0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19" name="文本框 10">
            <a:extLst>
              <a:ext uri="{FF2B5EF4-FFF2-40B4-BE49-F238E27FC236}">
                <a16:creationId xmlns:a16="http://schemas.microsoft.com/office/drawing/2014/main" id="{14632C1F-F475-9CA3-57E9-4DCF2367641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034430" y="4306230"/>
            <a:ext cx="998220" cy="92202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5400">
                <a:solidFill>
                  <a:srgbClr val="A6A6A6">
                    <a:alpha val="15000"/>
                  </a:srgbClr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r"/>
            <a:r>
              <a:rPr dirty="0">
                <a:latin typeface="HarmonyOS Sans SC Black" panose="00000A00000000000000" charset="-122"/>
                <a:ea typeface="HarmonyOS Sans SC Black" panose="00000A00000000000000" charset="-122"/>
              </a:rPr>
              <a:t>02</a:t>
            </a:r>
          </a:p>
        </p:txBody>
      </p:sp>
      <p:sp>
        <p:nvSpPr>
          <p:cNvPr id="20" name="文本框 20">
            <a:extLst>
              <a:ext uri="{FF2B5EF4-FFF2-40B4-BE49-F238E27FC236}">
                <a16:creationId xmlns:a16="http://schemas.microsoft.com/office/drawing/2014/main" id="{FF52FE79-A35D-E475-9893-C2C82D35E96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096000" y="4367938"/>
            <a:ext cx="1943698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ctr"/>
            <a:r>
              <a:rPr kumimoji="1" lang="zh-CN" alt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</a:rPr>
              <a:t>运行仿真</a:t>
            </a:r>
            <a:endParaRPr lang="zh-CN" altLang="en-US" sz="18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1" name="文本框 21">
            <a:extLst>
              <a:ext uri="{FF2B5EF4-FFF2-40B4-BE49-F238E27FC236}">
                <a16:creationId xmlns:a16="http://schemas.microsoft.com/office/drawing/2014/main" id="{EF3ABA0E-FD28-E5AC-9428-D780EEDB244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3084774" y="4808248"/>
            <a:ext cx="5686430" cy="102374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l">
              <a:lnSpc>
                <a:spcPct val="150000"/>
              </a:lnSpc>
            </a:pPr>
            <a:r>
              <a:rPr kumimoji="1" lang="en-US" altLang="zh-CN" sz="14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  <a:cs typeface="Source Han Sans"/>
              </a:rPr>
              <a:t>在 </a:t>
            </a:r>
            <a:r>
              <a:rPr kumimoji="1" lang="en-US" altLang="zh-CN" sz="1400" b="1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  <a:cs typeface="Source Han Sans"/>
              </a:rPr>
              <a:t>Vivado</a:t>
            </a:r>
            <a:r>
              <a:rPr kumimoji="1" lang="en-US" altLang="zh-CN" sz="14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  <a:cs typeface="Source Han Sans"/>
              </a:rPr>
              <a:t> </a:t>
            </a:r>
            <a:r>
              <a:rPr kumimoji="1" lang="en-US" altLang="zh-CN" sz="1400" b="1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  <a:cs typeface="Source Han Sans"/>
              </a:rPr>
              <a:t>中创建工程，导入设计文件</a:t>
            </a:r>
            <a:r>
              <a:rPr kumimoji="1" lang="en-US" altLang="zh-CN" sz="14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  <a:cs typeface="Source Han Sans"/>
              </a:rPr>
              <a:t>。
</a:t>
            </a:r>
            <a:r>
              <a:rPr kumimoji="1" lang="en-US" altLang="zh-CN" sz="1400" b="1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  <a:cs typeface="Source Han Sans"/>
              </a:rPr>
              <a:t>运行功能仿真，观察串口输出和外设状态，验证功能正确性</a:t>
            </a:r>
            <a:r>
              <a:rPr kumimoji="1" lang="en-US" altLang="zh-CN" sz="14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  <a:cs typeface="Source Han Sans"/>
              </a:rPr>
              <a:t>。
</a:t>
            </a:r>
            <a:r>
              <a:rPr kumimoji="1" lang="en-US" altLang="zh-CN" sz="1400" b="1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  <a:cs typeface="Source Han Sans"/>
              </a:rPr>
              <a:t>使用调试工具，检查处理器核的执行流程和数据传输情况</a:t>
            </a:r>
            <a:r>
              <a:rPr kumimoji="1" lang="en-US" altLang="zh-CN" sz="14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  <a:cs typeface="Source Han Sans"/>
              </a:rPr>
              <a:t>。</a:t>
            </a:r>
            <a:endParaRPr kumimoji="1" lang="zh-CN" altLang="en-US" sz="1400" b="1" dirty="0">
              <a:latin typeface="+mj-ea"/>
              <a:ea typeface="+mj-ea"/>
            </a:endParaRPr>
          </a:p>
        </p:txBody>
      </p:sp>
      <p:sp>
        <p:nvSpPr>
          <p:cNvPr id="22" name="矩形: 圆角 59">
            <a:extLst>
              <a:ext uri="{FF2B5EF4-FFF2-40B4-BE49-F238E27FC236}">
                <a16:creationId xmlns:a16="http://schemas.microsoft.com/office/drawing/2014/main" id="{18DB7CEB-CC3F-71B0-525A-3E020E92D7BC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3168000" y="4391950"/>
            <a:ext cx="319065" cy="319065"/>
          </a:xfrm>
          <a:prstGeom prst="roundRect">
            <a:avLst>
              <a:gd name="adj" fmla="val 16667"/>
            </a:avLst>
          </a:prstGeom>
          <a:solidFill>
            <a:srgbClr val="004CE5"/>
          </a:solidFill>
          <a:ln w="12700">
            <a:miter lim="400000"/>
          </a:ln>
          <a:effectLst>
            <a:outerShdw blurRad="203200" dist="635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23" name="instructor-giving-a-lecture-with-circular-graphic-on-screen_43194">
            <a:extLst>
              <a:ext uri="{FF2B5EF4-FFF2-40B4-BE49-F238E27FC236}">
                <a16:creationId xmlns:a16="http://schemas.microsoft.com/office/drawing/2014/main" id="{34B1E980-EB0E-C6F2-1AF8-C802A6385C86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3240000" y="4467550"/>
            <a:ext cx="182031" cy="1676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66" y="5347"/>
                </a:moveTo>
                <a:lnTo>
                  <a:pt x="14916" y="15183"/>
                </a:lnTo>
                <a:lnTo>
                  <a:pt x="14857" y="15310"/>
                </a:lnTo>
                <a:lnTo>
                  <a:pt x="14740" y="15376"/>
                </a:lnTo>
                <a:lnTo>
                  <a:pt x="12335" y="16340"/>
                </a:lnTo>
                <a:lnTo>
                  <a:pt x="11748" y="16599"/>
                </a:lnTo>
                <a:lnTo>
                  <a:pt x="11748" y="15954"/>
                </a:lnTo>
                <a:lnTo>
                  <a:pt x="11809" y="13248"/>
                </a:lnTo>
                <a:lnTo>
                  <a:pt x="11809" y="13121"/>
                </a:lnTo>
                <a:lnTo>
                  <a:pt x="11865" y="12991"/>
                </a:lnTo>
                <a:lnTo>
                  <a:pt x="18493" y="3027"/>
                </a:lnTo>
                <a:lnTo>
                  <a:pt x="18727" y="2641"/>
                </a:lnTo>
                <a:lnTo>
                  <a:pt x="19078" y="2900"/>
                </a:lnTo>
                <a:lnTo>
                  <a:pt x="21249" y="4703"/>
                </a:lnTo>
                <a:lnTo>
                  <a:pt x="21600" y="4962"/>
                </a:lnTo>
                <a:lnTo>
                  <a:pt x="21366" y="5347"/>
                </a:lnTo>
                <a:close/>
                <a:moveTo>
                  <a:pt x="19298" y="7128"/>
                </a:moveTo>
                <a:lnTo>
                  <a:pt x="17715" y="5880"/>
                </a:lnTo>
                <a:lnTo>
                  <a:pt x="12626" y="13463"/>
                </a:lnTo>
                <a:lnTo>
                  <a:pt x="12585" y="15415"/>
                </a:lnTo>
                <a:lnTo>
                  <a:pt x="14322" y="14716"/>
                </a:lnTo>
                <a:lnTo>
                  <a:pt x="19298" y="7128"/>
                </a:lnTo>
                <a:close/>
                <a:moveTo>
                  <a:pt x="18216" y="5133"/>
                </a:moveTo>
                <a:lnTo>
                  <a:pt x="19791" y="6376"/>
                </a:lnTo>
                <a:lnTo>
                  <a:pt x="20468" y="5345"/>
                </a:lnTo>
                <a:lnTo>
                  <a:pt x="18930" y="4067"/>
                </a:lnTo>
                <a:lnTo>
                  <a:pt x="18216" y="5133"/>
                </a:lnTo>
                <a:close/>
                <a:moveTo>
                  <a:pt x="4068" y="16692"/>
                </a:moveTo>
                <a:lnTo>
                  <a:pt x="3615" y="16692"/>
                </a:lnTo>
                <a:cubicBezTo>
                  <a:pt x="3116" y="16692"/>
                  <a:pt x="2711" y="16253"/>
                  <a:pt x="2711" y="15710"/>
                </a:cubicBezTo>
                <a:cubicBezTo>
                  <a:pt x="2711" y="15168"/>
                  <a:pt x="3116" y="14728"/>
                  <a:pt x="3615" y="14728"/>
                </a:cubicBezTo>
                <a:lnTo>
                  <a:pt x="4068" y="14728"/>
                </a:lnTo>
                <a:cubicBezTo>
                  <a:pt x="4567" y="14728"/>
                  <a:pt x="4972" y="15168"/>
                  <a:pt x="4972" y="15710"/>
                </a:cubicBezTo>
                <a:cubicBezTo>
                  <a:pt x="4972" y="16253"/>
                  <a:pt x="4567" y="16692"/>
                  <a:pt x="4068" y="16692"/>
                </a:cubicBezTo>
                <a:close/>
                <a:moveTo>
                  <a:pt x="4068" y="6872"/>
                </a:moveTo>
                <a:lnTo>
                  <a:pt x="3615" y="6872"/>
                </a:lnTo>
                <a:cubicBezTo>
                  <a:pt x="3116" y="6872"/>
                  <a:pt x="2711" y="6432"/>
                  <a:pt x="2711" y="5890"/>
                </a:cubicBezTo>
                <a:cubicBezTo>
                  <a:pt x="2711" y="5347"/>
                  <a:pt x="3116" y="4908"/>
                  <a:pt x="3615" y="4908"/>
                </a:cubicBezTo>
                <a:lnTo>
                  <a:pt x="4068" y="4908"/>
                </a:lnTo>
                <a:cubicBezTo>
                  <a:pt x="4567" y="4908"/>
                  <a:pt x="4972" y="5347"/>
                  <a:pt x="4972" y="5890"/>
                </a:cubicBezTo>
                <a:cubicBezTo>
                  <a:pt x="4972" y="6432"/>
                  <a:pt x="4567" y="6872"/>
                  <a:pt x="4068" y="6872"/>
                </a:cubicBezTo>
                <a:close/>
                <a:moveTo>
                  <a:pt x="4068" y="11782"/>
                </a:moveTo>
                <a:lnTo>
                  <a:pt x="3615" y="11782"/>
                </a:lnTo>
                <a:cubicBezTo>
                  <a:pt x="3116" y="11782"/>
                  <a:pt x="2711" y="11342"/>
                  <a:pt x="2711" y="10800"/>
                </a:cubicBezTo>
                <a:cubicBezTo>
                  <a:pt x="2711" y="10258"/>
                  <a:pt x="3116" y="9818"/>
                  <a:pt x="3615" y="9818"/>
                </a:cubicBezTo>
                <a:lnTo>
                  <a:pt x="4068" y="9818"/>
                </a:lnTo>
                <a:cubicBezTo>
                  <a:pt x="4567" y="9818"/>
                  <a:pt x="4972" y="10258"/>
                  <a:pt x="4972" y="10800"/>
                </a:cubicBezTo>
                <a:cubicBezTo>
                  <a:pt x="4972" y="11342"/>
                  <a:pt x="4567" y="11782"/>
                  <a:pt x="4068" y="11782"/>
                </a:cubicBezTo>
                <a:close/>
                <a:moveTo>
                  <a:pt x="7233" y="14728"/>
                </a:moveTo>
                <a:lnTo>
                  <a:pt x="9042" y="14728"/>
                </a:lnTo>
                <a:cubicBezTo>
                  <a:pt x="9541" y="14728"/>
                  <a:pt x="9946" y="15168"/>
                  <a:pt x="9946" y="15710"/>
                </a:cubicBezTo>
                <a:cubicBezTo>
                  <a:pt x="9946" y="16253"/>
                  <a:pt x="9541" y="16692"/>
                  <a:pt x="9042" y="16692"/>
                </a:cubicBezTo>
                <a:lnTo>
                  <a:pt x="7233" y="16692"/>
                </a:lnTo>
                <a:cubicBezTo>
                  <a:pt x="6734" y="16692"/>
                  <a:pt x="6329" y="16253"/>
                  <a:pt x="6329" y="15710"/>
                </a:cubicBezTo>
                <a:cubicBezTo>
                  <a:pt x="6329" y="15168"/>
                  <a:pt x="6734" y="14728"/>
                  <a:pt x="7233" y="14728"/>
                </a:cubicBezTo>
                <a:close/>
                <a:moveTo>
                  <a:pt x="6329" y="5890"/>
                </a:moveTo>
                <a:cubicBezTo>
                  <a:pt x="6329" y="5347"/>
                  <a:pt x="6734" y="4908"/>
                  <a:pt x="7233" y="4908"/>
                </a:cubicBezTo>
                <a:lnTo>
                  <a:pt x="13564" y="4908"/>
                </a:lnTo>
                <a:cubicBezTo>
                  <a:pt x="14063" y="4908"/>
                  <a:pt x="14468" y="5347"/>
                  <a:pt x="14468" y="5890"/>
                </a:cubicBezTo>
                <a:cubicBezTo>
                  <a:pt x="14468" y="6432"/>
                  <a:pt x="14063" y="6872"/>
                  <a:pt x="13564" y="6872"/>
                </a:cubicBezTo>
                <a:lnTo>
                  <a:pt x="7233" y="6872"/>
                </a:lnTo>
                <a:cubicBezTo>
                  <a:pt x="6734" y="6872"/>
                  <a:pt x="6329" y="6432"/>
                  <a:pt x="6329" y="5890"/>
                </a:cubicBezTo>
                <a:close/>
                <a:moveTo>
                  <a:pt x="10398" y="11782"/>
                </a:moveTo>
                <a:lnTo>
                  <a:pt x="7233" y="11782"/>
                </a:lnTo>
                <a:cubicBezTo>
                  <a:pt x="6734" y="11782"/>
                  <a:pt x="6329" y="11342"/>
                  <a:pt x="6329" y="10800"/>
                </a:cubicBezTo>
                <a:cubicBezTo>
                  <a:pt x="6329" y="10258"/>
                  <a:pt x="6734" y="9818"/>
                  <a:pt x="7233" y="9818"/>
                </a:cubicBezTo>
                <a:lnTo>
                  <a:pt x="10398" y="9818"/>
                </a:lnTo>
                <a:cubicBezTo>
                  <a:pt x="10898" y="9818"/>
                  <a:pt x="11303" y="10258"/>
                  <a:pt x="11303" y="10800"/>
                </a:cubicBezTo>
                <a:cubicBezTo>
                  <a:pt x="11303" y="11342"/>
                  <a:pt x="10898" y="11782"/>
                  <a:pt x="10398" y="11782"/>
                </a:cubicBezTo>
                <a:close/>
                <a:moveTo>
                  <a:pt x="17859" y="1964"/>
                </a:moveTo>
                <a:cubicBezTo>
                  <a:pt x="17778" y="1964"/>
                  <a:pt x="17703" y="1940"/>
                  <a:pt x="17631" y="1913"/>
                </a:cubicBezTo>
                <a:lnTo>
                  <a:pt x="17631" y="1964"/>
                </a:lnTo>
                <a:lnTo>
                  <a:pt x="17505" y="1964"/>
                </a:lnTo>
                <a:cubicBezTo>
                  <a:pt x="17350" y="1671"/>
                  <a:pt x="17062" y="1473"/>
                  <a:pt x="16727" y="1473"/>
                </a:cubicBezTo>
                <a:lnTo>
                  <a:pt x="2259" y="1473"/>
                </a:lnTo>
                <a:cubicBezTo>
                  <a:pt x="1759" y="1473"/>
                  <a:pt x="1354" y="1913"/>
                  <a:pt x="1354" y="2453"/>
                </a:cubicBezTo>
                <a:lnTo>
                  <a:pt x="1354" y="19147"/>
                </a:lnTo>
                <a:cubicBezTo>
                  <a:pt x="1354" y="19690"/>
                  <a:pt x="1759" y="20127"/>
                  <a:pt x="2259" y="20127"/>
                </a:cubicBezTo>
                <a:lnTo>
                  <a:pt x="16727" y="20127"/>
                </a:lnTo>
                <a:cubicBezTo>
                  <a:pt x="17226" y="20127"/>
                  <a:pt x="17631" y="19690"/>
                  <a:pt x="17631" y="19147"/>
                </a:cubicBezTo>
                <a:lnTo>
                  <a:pt x="17631" y="13746"/>
                </a:lnTo>
                <a:lnTo>
                  <a:pt x="17679" y="13746"/>
                </a:lnTo>
                <a:cubicBezTo>
                  <a:pt x="17652" y="13668"/>
                  <a:pt x="17631" y="13587"/>
                  <a:pt x="17631" y="13499"/>
                </a:cubicBezTo>
                <a:cubicBezTo>
                  <a:pt x="17631" y="13094"/>
                  <a:pt x="17935" y="12764"/>
                  <a:pt x="18311" y="12764"/>
                </a:cubicBezTo>
                <a:cubicBezTo>
                  <a:pt x="18684" y="12764"/>
                  <a:pt x="18988" y="13094"/>
                  <a:pt x="18988" y="13499"/>
                </a:cubicBezTo>
                <a:cubicBezTo>
                  <a:pt x="18988" y="13587"/>
                  <a:pt x="18968" y="13668"/>
                  <a:pt x="18943" y="13746"/>
                </a:cubicBezTo>
                <a:lnTo>
                  <a:pt x="18988" y="13746"/>
                </a:lnTo>
                <a:lnTo>
                  <a:pt x="18988" y="19147"/>
                </a:lnTo>
                <a:cubicBezTo>
                  <a:pt x="18988" y="20501"/>
                  <a:pt x="17976" y="21600"/>
                  <a:pt x="16727" y="21600"/>
                </a:cubicBezTo>
                <a:lnTo>
                  <a:pt x="2259" y="21600"/>
                </a:lnTo>
                <a:cubicBezTo>
                  <a:pt x="1010" y="21600"/>
                  <a:pt x="0" y="20501"/>
                  <a:pt x="0" y="19147"/>
                </a:cubicBezTo>
                <a:lnTo>
                  <a:pt x="0" y="2453"/>
                </a:lnTo>
                <a:cubicBezTo>
                  <a:pt x="0" y="1097"/>
                  <a:pt x="1010" y="0"/>
                  <a:pt x="2259" y="0"/>
                </a:cubicBezTo>
                <a:lnTo>
                  <a:pt x="16727" y="0"/>
                </a:lnTo>
                <a:cubicBezTo>
                  <a:pt x="17292" y="0"/>
                  <a:pt x="17802" y="230"/>
                  <a:pt x="18196" y="601"/>
                </a:cubicBezTo>
                <a:cubicBezTo>
                  <a:pt x="18311" y="677"/>
                  <a:pt x="18408" y="779"/>
                  <a:pt x="18466" y="911"/>
                </a:cubicBezTo>
                <a:cubicBezTo>
                  <a:pt x="18484" y="936"/>
                  <a:pt x="18509" y="955"/>
                  <a:pt x="18527" y="982"/>
                </a:cubicBezTo>
                <a:lnTo>
                  <a:pt x="18491" y="982"/>
                </a:lnTo>
                <a:cubicBezTo>
                  <a:pt x="18518" y="1058"/>
                  <a:pt x="18536" y="1138"/>
                  <a:pt x="18536" y="1226"/>
                </a:cubicBezTo>
                <a:cubicBezTo>
                  <a:pt x="18536" y="1632"/>
                  <a:pt x="18232" y="1964"/>
                  <a:pt x="17859" y="196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0138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EACF5-0D8F-FF45-6C14-20642BB6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6BFB6D5B-F599-5599-4DE7-CA4BFE7DBEC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8F5DF5C2-04AE-A8A7-9D16-DD44B2EC43C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8120D0B-62D0-C42B-6BDF-86053FCCFD0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 flipV="1">
            <a:off x="736600" y="1964989"/>
            <a:ext cx="5023097" cy="2924441"/>
          </a:xfrm>
          <a:custGeom>
            <a:avLst/>
            <a:gdLst>
              <a:gd name="connsiteX0" fmla="*/ 0 w 7700210"/>
              <a:gd name="connsiteY0" fmla="*/ 3272590 h 3272590"/>
              <a:gd name="connsiteX1" fmla="*/ 7700210 w 7700210"/>
              <a:gd name="connsiteY1" fmla="*/ 3272590 h 3272590"/>
              <a:gd name="connsiteX2" fmla="*/ 7700210 w 7700210"/>
              <a:gd name="connsiteY2" fmla="*/ 232611 h 3272590"/>
              <a:gd name="connsiteX3" fmla="*/ 821676 w 7700210"/>
              <a:gd name="connsiteY3" fmla="*/ 232611 h 3272590"/>
              <a:gd name="connsiteX4" fmla="*/ 686762 w 7700210"/>
              <a:gd name="connsiteY4" fmla="*/ 0 h 3272590"/>
              <a:gd name="connsiteX5" fmla="*/ 551848 w 7700210"/>
              <a:gd name="connsiteY5" fmla="*/ 232611 h 3272590"/>
              <a:gd name="connsiteX6" fmla="*/ 0 w 7700210"/>
              <a:gd name="connsiteY6" fmla="*/ 232611 h 3272590"/>
            </a:gdLst>
            <a:ahLst/>
            <a:cxnLst/>
            <a:rect l="l" t="t" r="r" b="b"/>
            <a:pathLst>
              <a:path w="7700210" h="3272590">
                <a:moveTo>
                  <a:pt x="0" y="3272590"/>
                </a:moveTo>
                <a:lnTo>
                  <a:pt x="7700210" y="3272590"/>
                </a:lnTo>
                <a:lnTo>
                  <a:pt x="7700210" y="232611"/>
                </a:lnTo>
                <a:lnTo>
                  <a:pt x="821676" y="232611"/>
                </a:lnTo>
                <a:lnTo>
                  <a:pt x="686762" y="0"/>
                </a:lnTo>
                <a:lnTo>
                  <a:pt x="551848" y="232611"/>
                </a:lnTo>
                <a:lnTo>
                  <a:pt x="0" y="232611"/>
                </a:lnTo>
                <a:close/>
              </a:path>
            </a:pathLst>
          </a:cu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1B25651A-245D-DFC3-7120-6DEA6C58678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 flipV="1">
            <a:off x="6200140" y="1968571"/>
            <a:ext cx="5023097" cy="2924441"/>
          </a:xfrm>
          <a:custGeom>
            <a:avLst/>
            <a:gdLst>
              <a:gd name="connsiteX0" fmla="*/ 0 w 7700210"/>
              <a:gd name="connsiteY0" fmla="*/ 3272590 h 3272590"/>
              <a:gd name="connsiteX1" fmla="*/ 7700210 w 7700210"/>
              <a:gd name="connsiteY1" fmla="*/ 3272590 h 3272590"/>
              <a:gd name="connsiteX2" fmla="*/ 7700210 w 7700210"/>
              <a:gd name="connsiteY2" fmla="*/ 232611 h 3272590"/>
              <a:gd name="connsiteX3" fmla="*/ 821676 w 7700210"/>
              <a:gd name="connsiteY3" fmla="*/ 232611 h 3272590"/>
              <a:gd name="connsiteX4" fmla="*/ 686762 w 7700210"/>
              <a:gd name="connsiteY4" fmla="*/ 0 h 3272590"/>
              <a:gd name="connsiteX5" fmla="*/ 551848 w 7700210"/>
              <a:gd name="connsiteY5" fmla="*/ 232611 h 3272590"/>
              <a:gd name="connsiteX6" fmla="*/ 0 w 7700210"/>
              <a:gd name="connsiteY6" fmla="*/ 232611 h 3272590"/>
            </a:gdLst>
            <a:ahLst/>
            <a:cxnLst/>
            <a:rect l="l" t="t" r="r" b="b"/>
            <a:pathLst>
              <a:path w="7700210" h="3272590">
                <a:moveTo>
                  <a:pt x="0" y="3272590"/>
                </a:moveTo>
                <a:lnTo>
                  <a:pt x="7700210" y="3272590"/>
                </a:lnTo>
                <a:lnTo>
                  <a:pt x="7700210" y="232611"/>
                </a:lnTo>
                <a:lnTo>
                  <a:pt x="821676" y="232611"/>
                </a:lnTo>
                <a:lnTo>
                  <a:pt x="686762" y="0"/>
                </a:lnTo>
                <a:lnTo>
                  <a:pt x="551848" y="232611"/>
                </a:lnTo>
                <a:lnTo>
                  <a:pt x="0" y="232611"/>
                </a:lnTo>
                <a:close/>
              </a:path>
            </a:pathLst>
          </a:cu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0F935742-D452-79C0-3D5A-85E944D2D58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46983" y="4893011"/>
            <a:ext cx="587312" cy="47307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2800" dirty="0">
                <a:ln w="12700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OPPOSans B"/>
              </a:rPr>
              <a:t>01</a:t>
            </a:r>
            <a:endParaRPr kumimoji="1" lang="zh-CN" altLang="en-US" sz="2800" dirty="0">
              <a:solidFill>
                <a:schemeClr val="accent1">
                  <a:lumMod val="60000"/>
                  <a:lumOff val="40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1FE29F1-C957-54B2-7A9E-88E2E18F96F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325763" y="4893011"/>
            <a:ext cx="587312" cy="47307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2800" dirty="0">
                <a:ln w="12700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OPPOSans B"/>
              </a:rPr>
              <a:t>02</a:t>
            </a:r>
            <a:endParaRPr kumimoji="1" lang="zh-CN" altLang="en-US" sz="2800" dirty="0">
              <a:solidFill>
                <a:schemeClr val="accent1">
                  <a:lumMod val="60000"/>
                  <a:lumOff val="40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2C5941-F08A-B53C-1EBE-F4EDCA8C09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35380" y="2900094"/>
            <a:ext cx="343662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 err="1">
                <a:ln w="12700">
                  <a:noFill/>
                </a:ln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生成</a:t>
            </a:r>
            <a:r>
              <a:rPr kumimoji="1" lang="en-US" altLang="zh-CN" sz="2400" b="1" dirty="0">
                <a:ln w="12700">
                  <a:noFill/>
                </a:ln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bit </a:t>
            </a:r>
            <a:r>
              <a:rPr kumimoji="1" lang="en-US" altLang="zh-CN" sz="2400" b="1" dirty="0" err="1">
                <a:ln w="12700">
                  <a:noFill/>
                </a:ln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文件</a:t>
            </a:r>
            <a:endParaRPr kumimoji="1" lang="zh-CN" altLang="en-US" sz="2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CE13B8-5285-1327-0C0D-CB34479710F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35380" y="3304222"/>
            <a:ext cx="449477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 </a:t>
            </a:r>
            <a:r>
              <a:rPr kumimoji="1" lang="en-US" altLang="zh-CN" sz="16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Vivado</a:t>
            </a:r>
            <a:r>
              <a:rPr kumimoji="1" lang="en-US" altLang="zh-CN" sz="16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中完成综合、实现和</a:t>
            </a:r>
            <a:r>
              <a:rPr kumimoji="1" lang="en-US" altLang="zh-CN" sz="16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bit </a:t>
            </a:r>
            <a:r>
              <a:rPr kumimoji="1" lang="en-US" altLang="zh-CN" sz="16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文件生成</a:t>
            </a:r>
            <a:r>
              <a:rPr kumimoji="1" lang="zh-CN" altLang="en-US" sz="16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1" lang="en-US" altLang="zh-CN" sz="1600" b="1" dirty="0" err="1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或在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GitLab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上传代码，在线编译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9BAD99-E99F-6011-2CC9-572842E56CE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561843" y="2479773"/>
            <a:ext cx="343662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ln w="12700">
                  <a:noFill/>
                </a:ln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远程</a:t>
            </a:r>
            <a:r>
              <a:rPr kumimoji="1" lang="en-US" altLang="zh-CN" sz="2400" b="1" dirty="0">
                <a:ln w="12700">
                  <a:noFill/>
                </a:ln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FPGA </a:t>
            </a:r>
            <a:r>
              <a:rPr kumimoji="1" lang="zh-CN" altLang="en-US" sz="2400" b="1" dirty="0">
                <a:ln w="12700">
                  <a:noFill/>
                </a:ln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</a:t>
            </a:r>
            <a:endParaRPr kumimoji="1" lang="zh-CN" altLang="en-US" sz="2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CE3993F-71F5-9E92-A043-CDF93126E12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561843" y="2846247"/>
            <a:ext cx="4494777" cy="1142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6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登录远程</a:t>
            </a:r>
            <a:r>
              <a:rPr kumimoji="1" lang="en-US" altLang="zh-CN" sz="16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FPGA </a:t>
            </a:r>
            <a:r>
              <a:rPr kumimoji="1" lang="en-US" altLang="zh-CN" sz="16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实验平台，上传</a:t>
            </a:r>
            <a:r>
              <a:rPr kumimoji="1" lang="en-US" altLang="zh-CN" sz="16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bit </a:t>
            </a:r>
            <a:r>
              <a:rPr kumimoji="1" lang="en-US" altLang="zh-CN" sz="16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文件</a:t>
            </a:r>
            <a:r>
              <a:rPr kumimoji="1" lang="zh-CN" altLang="en-US" sz="16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或选择</a:t>
            </a:r>
            <a:r>
              <a:rPr kumimoji="1" lang="en-US" altLang="zh-CN" sz="16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CI </a:t>
            </a:r>
            <a:r>
              <a:rPr kumimoji="1" lang="zh-CN" altLang="en-US" sz="16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结果。烧录</a:t>
            </a:r>
            <a:r>
              <a:rPr kumimoji="1" lang="en-US" altLang="zh-CN" sz="16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测试程序至</a:t>
            </a:r>
            <a:r>
              <a:rPr kumimoji="1" lang="en-US" altLang="zh-CN" sz="16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BaseRAM，运行测试程序，观察结果</a:t>
            </a:r>
            <a:endParaRPr kumimoji="1" lang="zh-CN" altLang="en-US" sz="1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92C322-FC65-A6DC-2F36-75D1F973573E}"/>
              </a:ext>
            </a:extLst>
          </p:cNvPr>
          <p:cNvSpPr/>
          <p:nvPr/>
        </p:nvSpPr>
        <p:spPr>
          <a:xfrm>
            <a:off x="10010968" y="965294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组合 33">
            <a:extLst>
              <a:ext uri="{FF2B5EF4-FFF2-40B4-BE49-F238E27FC236}">
                <a16:creationId xmlns:a16="http://schemas.microsoft.com/office/drawing/2014/main" id="{C31C38D8-F9BB-B80D-C29B-2589A1C31097}"/>
              </a:ext>
            </a:extLst>
          </p:cNvPr>
          <p:cNvSpPr/>
          <p:nvPr/>
        </p:nvSpPr>
        <p:spPr>
          <a:xfrm>
            <a:off x="8998837" y="425294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FPGA</a:t>
            </a:r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验证</a:t>
            </a:r>
            <a:endParaRPr lang="zh-CN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7392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681605" y="2880000"/>
            <a:ext cx="682879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b="1" dirty="0">
                <a:solidFill>
                  <a:srgbClr val="142DA8"/>
                </a:solidFill>
                <a:latin typeface="+mj-ea"/>
                <a:ea typeface="+mj-ea"/>
              </a:rPr>
              <a:t>测试结果</a:t>
            </a: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3473768" y="3780000"/>
            <a:ext cx="5244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666666"/>
                </a:solidFill>
                <a:latin typeface="+mn-ea"/>
              </a:rPr>
              <a:t>（</a:t>
            </a:r>
            <a:r>
              <a:rPr lang="en-US" altLang="zh-CN" sz="2800" dirty="0" err="1">
                <a:solidFill>
                  <a:srgbClr val="666666"/>
                </a:solidFill>
                <a:latin typeface="+mn-ea"/>
              </a:rPr>
              <a:t>vivado</a:t>
            </a:r>
            <a:r>
              <a:rPr lang="zh-CN" altLang="en-US" sz="2800" dirty="0">
                <a:solidFill>
                  <a:srgbClr val="666666"/>
                </a:solidFill>
                <a:latin typeface="+mn-ea"/>
              </a:rPr>
              <a:t>仿真</a:t>
            </a:r>
            <a:r>
              <a:rPr lang="en-US" altLang="zh-CN" sz="2800" dirty="0">
                <a:solidFill>
                  <a:srgbClr val="666666"/>
                </a:solidFill>
                <a:latin typeface="+mn-ea"/>
              </a:rPr>
              <a:t>+FPGA</a:t>
            </a:r>
            <a:r>
              <a:rPr lang="zh-CN" altLang="en-US" sz="2800" dirty="0">
                <a:solidFill>
                  <a:srgbClr val="666666"/>
                </a:solidFill>
                <a:latin typeface="+mn-ea"/>
              </a:rPr>
              <a:t>验证）</a:t>
            </a: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5646000" y="1799730"/>
            <a:ext cx="900000" cy="900000"/>
          </a:xfrm>
          <a:prstGeom prst="rect">
            <a:avLst/>
          </a:prstGeom>
          <a:solidFill>
            <a:srgbClr val="1718B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HarmonyOS Sans SC Black" panose="00000A00000000000000" charset="-122"/>
                <a:ea typeface="HarmonyOS Sans SC Black" panose="00000A00000000000000" charset="-122"/>
              </a:rPr>
              <a:t>3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DFCE8-6AF6-4EDB-4367-D644B698F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073CAD2C-8CCB-1BE6-C31C-1EB140DAE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75E9303D-7A65-38BF-11BD-13B727565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C44B92E-03EF-943B-98AE-571A6CD00DC8}"/>
              </a:ext>
            </a:extLst>
          </p:cNvPr>
          <p:cNvSpPr/>
          <p:nvPr/>
        </p:nvSpPr>
        <p:spPr>
          <a:xfrm>
            <a:off x="10010968" y="965294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组合 33">
            <a:extLst>
              <a:ext uri="{FF2B5EF4-FFF2-40B4-BE49-F238E27FC236}">
                <a16:creationId xmlns:a16="http://schemas.microsoft.com/office/drawing/2014/main" id="{A29250EB-3358-98C7-3E88-F77851F62B86}"/>
              </a:ext>
            </a:extLst>
          </p:cNvPr>
          <p:cNvSpPr/>
          <p:nvPr/>
        </p:nvSpPr>
        <p:spPr>
          <a:xfrm>
            <a:off x="8998837" y="425294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en-US" altLang="zh-CN" dirty="0" err="1">
                <a:solidFill>
                  <a:schemeClr val="tx1"/>
                </a:solidFill>
                <a:latin typeface="+mj-ea"/>
                <a:ea typeface="+mj-ea"/>
              </a:rPr>
              <a:t>vivado</a:t>
            </a:r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仿真</a:t>
            </a:r>
            <a:endParaRPr lang="zh-CN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5901FD-60EE-9448-9421-23923F5F591A}"/>
              </a:ext>
            </a:extLst>
          </p:cNvPr>
          <p:cNvSpPr txBox="1"/>
          <p:nvPr/>
        </p:nvSpPr>
        <p:spPr>
          <a:xfrm>
            <a:off x="2081530" y="4088765"/>
            <a:ext cx="401510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n w="12700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Source Han Sans"/>
              </a:rPr>
              <a:t>结果说明</a:t>
            </a:r>
            <a:endParaRPr kumimoji="1" lang="en-US" altLang="zh-CN" sz="2400" dirty="0">
              <a:ln w="12700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  <a:cs typeface="Source Han Sans"/>
            </a:endParaRPr>
          </a:p>
          <a:p>
            <a:r>
              <a:rPr kumimoji="1" lang="en-US" altLang="zh-CN" sz="180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Hello Loongarch32r：成功输</a:t>
            </a:r>
            <a:r>
              <a:rPr kumimoji="1" lang="zh-CN" altLang="en-US" sz="180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出了“</a:t>
            </a:r>
            <a:r>
              <a:rPr kumimoji="1" lang="en-US" altLang="zh-CN" sz="180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Hello Loongarch32r!”，</a:t>
            </a:r>
            <a:r>
              <a:rPr kumimoji="1" lang="en-US" altLang="zh-CN" sz="18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验证了</a:t>
            </a:r>
            <a:r>
              <a:rPr kumimoji="1" lang="en-US" altLang="zh-CN" sz="1800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 SoC </a:t>
            </a:r>
            <a:r>
              <a:rPr kumimoji="1" lang="en-US" altLang="zh-CN" sz="18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的基本功能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BDB2A8-26EC-ED15-C211-C5C6AB722FC1}"/>
              </a:ext>
            </a:extLst>
          </p:cNvPr>
          <p:cNvSpPr txBox="1"/>
          <p:nvPr/>
        </p:nvSpPr>
        <p:spPr>
          <a:xfrm>
            <a:off x="6571660" y="3440574"/>
            <a:ext cx="330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+mj-ea"/>
                <a:ea typeface="+mj-ea"/>
              </a:rPr>
              <a:t>图二：</a:t>
            </a:r>
            <a:r>
              <a:rPr lang="en-US" altLang="zh-CN" sz="1200" b="1" dirty="0" err="1">
                <a:latin typeface="+mj-ea"/>
                <a:ea typeface="+mj-ea"/>
              </a:rPr>
              <a:t>vivado</a:t>
            </a:r>
            <a:r>
              <a:rPr lang="zh-CN" altLang="en-US" sz="1200" b="1" dirty="0">
                <a:latin typeface="+mj-ea"/>
                <a:ea typeface="+mj-ea"/>
              </a:rPr>
              <a:t>生成的波形图（完整版）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9757E16-D533-E51D-576E-6D2755746F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276" y="929841"/>
            <a:ext cx="3960307" cy="244550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6EBEA11-B24F-5C0F-9576-65DD63837B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453" y="929841"/>
            <a:ext cx="4075243" cy="249303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FBFC283-E851-1891-2717-EDF77E1A9BE6}"/>
              </a:ext>
            </a:extLst>
          </p:cNvPr>
          <p:cNvSpPr txBox="1"/>
          <p:nvPr/>
        </p:nvSpPr>
        <p:spPr>
          <a:xfrm>
            <a:off x="2207439" y="3455781"/>
            <a:ext cx="330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+mj-ea"/>
                <a:ea typeface="+mj-ea"/>
              </a:rPr>
              <a:t>图一：</a:t>
            </a:r>
            <a:r>
              <a:rPr lang="en-US" altLang="zh-CN" sz="1200" b="1" dirty="0" err="1">
                <a:latin typeface="+mj-ea"/>
                <a:ea typeface="+mj-ea"/>
              </a:rPr>
              <a:t>vivado</a:t>
            </a:r>
            <a:r>
              <a:rPr lang="zh-CN" altLang="en-US" sz="1200" b="1" dirty="0">
                <a:latin typeface="+mj-ea"/>
                <a:ea typeface="+mj-ea"/>
              </a:rPr>
              <a:t>生成的波形图（局部版）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0A063DC-A12B-B6C8-964B-4DD2E6A8F2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626" y="3727093"/>
            <a:ext cx="3960307" cy="244550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F772089-9CDC-AB03-06E7-2C5989BAF8A1}"/>
              </a:ext>
            </a:extLst>
          </p:cNvPr>
          <p:cNvSpPr txBox="1"/>
          <p:nvPr/>
        </p:nvSpPr>
        <p:spPr>
          <a:xfrm>
            <a:off x="6971711" y="6172595"/>
            <a:ext cx="330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+mj-ea"/>
                <a:ea typeface="+mj-ea"/>
              </a:rPr>
              <a:t>图三：</a:t>
            </a:r>
            <a:r>
              <a:rPr lang="en-US" altLang="zh-CN" sz="1200" b="1" dirty="0" err="1">
                <a:latin typeface="+mj-ea"/>
                <a:ea typeface="+mj-ea"/>
              </a:rPr>
              <a:t>vivado</a:t>
            </a:r>
            <a:r>
              <a:rPr lang="zh-CN" altLang="en-US" sz="1200" b="1" dirty="0">
                <a:latin typeface="+mj-ea"/>
                <a:ea typeface="+mj-ea"/>
              </a:rPr>
              <a:t>控制台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1062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32325-1F40-2C88-FDA3-310ABC686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1E9C9497-95AE-996E-9196-6A5E8A071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6322CB3C-7CF0-8F3C-3F7B-3DDB01B7E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33B84BC-FCAD-6011-D32D-8C8D9E4B9F39}"/>
              </a:ext>
            </a:extLst>
          </p:cNvPr>
          <p:cNvSpPr/>
          <p:nvPr/>
        </p:nvSpPr>
        <p:spPr>
          <a:xfrm>
            <a:off x="10010968" y="965294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组合 33">
            <a:extLst>
              <a:ext uri="{FF2B5EF4-FFF2-40B4-BE49-F238E27FC236}">
                <a16:creationId xmlns:a16="http://schemas.microsoft.com/office/drawing/2014/main" id="{9F2368A4-70C7-23F1-6E02-B3AC1E2EA240}"/>
              </a:ext>
            </a:extLst>
          </p:cNvPr>
          <p:cNvSpPr/>
          <p:nvPr/>
        </p:nvSpPr>
        <p:spPr>
          <a:xfrm>
            <a:off x="8998837" y="425294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FPGA</a:t>
            </a:r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验证</a:t>
            </a:r>
            <a:endParaRPr lang="zh-CN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01C6BA-6D60-198A-B675-304EEA189111}"/>
              </a:ext>
            </a:extLst>
          </p:cNvPr>
          <p:cNvSpPr txBox="1"/>
          <p:nvPr/>
        </p:nvSpPr>
        <p:spPr>
          <a:xfrm>
            <a:off x="2001701" y="3614753"/>
            <a:ext cx="330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j-ea"/>
                <a:ea typeface="+mj-ea"/>
              </a:rPr>
              <a:t>图四：</a:t>
            </a:r>
            <a:r>
              <a:rPr lang="en-US" altLang="zh-CN" sz="1200" b="1" dirty="0">
                <a:latin typeface="+mj-ea"/>
                <a:ea typeface="+mj-ea"/>
              </a:rPr>
              <a:t>FPGA</a:t>
            </a:r>
            <a:r>
              <a:rPr lang="zh-CN" altLang="en-US" sz="1200" b="1" dirty="0">
                <a:latin typeface="+mj-ea"/>
                <a:ea typeface="+mj-ea"/>
              </a:rPr>
              <a:t>上板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319230-C145-6A19-C81C-AA34992B1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4655" y="1037294"/>
            <a:ext cx="3943350" cy="23914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AC3773F-B22F-52BE-9A87-2DBFDEF8E7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731" y="1037294"/>
            <a:ext cx="4169410" cy="239839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CDAB162-DB34-8BC2-8405-3CB4E47419C9}"/>
              </a:ext>
            </a:extLst>
          </p:cNvPr>
          <p:cNvSpPr txBox="1"/>
          <p:nvPr/>
        </p:nvSpPr>
        <p:spPr>
          <a:xfrm>
            <a:off x="2081530" y="4088765"/>
            <a:ext cx="53041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n w="12700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Source Han Sans"/>
              </a:rPr>
              <a:t>结果说明</a:t>
            </a:r>
            <a:endParaRPr kumimoji="1" lang="en-US" altLang="zh-CN" sz="2400" dirty="0">
              <a:ln w="12700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  <a:cs typeface="Source Han Sans"/>
            </a:endParaRPr>
          </a:p>
          <a:p>
            <a:pPr indent="457200"/>
            <a:r>
              <a:rPr kumimoji="1" lang="en-US" altLang="zh-CN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core mark：</a:t>
            </a:r>
            <a:r>
              <a:rPr kumimoji="1" lang="zh-CN" altLang="en-US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选择</a:t>
            </a:r>
            <a:r>
              <a:rPr kumimoji="1" lang="en-US" altLang="zh-CN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CI</a:t>
            </a:r>
            <a:r>
              <a:rPr kumimoji="1" lang="zh-CN" altLang="en-US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结果</a:t>
            </a:r>
            <a:r>
              <a:rPr kumimoji="1" lang="en-US" altLang="zh-CN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7c669445</a:t>
            </a:r>
            <a:r>
              <a:rPr kumimoji="1" lang="zh-CN" altLang="en-US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，波特率设置为</a:t>
            </a:r>
            <a:r>
              <a:rPr kumimoji="1" lang="en-US" altLang="zh-CN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115200</a:t>
            </a:r>
            <a:r>
              <a:rPr kumimoji="1" lang="zh-CN" altLang="en-US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，选择</a:t>
            </a:r>
            <a:r>
              <a:rPr kumimoji="1" lang="en-US" altLang="zh-CN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ciciec_func.bin</a:t>
            </a:r>
            <a:r>
              <a:rPr kumimoji="1" lang="zh-CN" altLang="en-US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写入</a:t>
            </a:r>
            <a:r>
              <a:rPr kumimoji="1" lang="en-US" altLang="zh-CN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BaseRam</a:t>
            </a:r>
            <a:r>
              <a:rPr kumimoji="1" lang="zh-CN" altLang="en-US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，可以在图四右侧看到运行结果，板上数码管显示</a:t>
            </a:r>
            <a:r>
              <a:rPr kumimoji="1" lang="en-US" altLang="zh-CN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core mark</a:t>
            </a:r>
            <a:r>
              <a:rPr kumimoji="1" lang="zh-CN" altLang="en-US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跑分为</a:t>
            </a:r>
            <a:r>
              <a:rPr kumimoji="1" lang="en-US" altLang="zh-CN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2.8</a:t>
            </a:r>
            <a:r>
              <a:rPr kumimoji="1" lang="zh-CN" altLang="en-US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。</a:t>
            </a:r>
          </a:p>
          <a:p>
            <a:pPr indent="457200"/>
            <a:r>
              <a:rPr kumimoji="1" lang="zh-CN" altLang="en-US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功能测试：选择</a:t>
            </a:r>
            <a:r>
              <a:rPr kumimoji="1" lang="en-US" altLang="zh-CN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CI</a:t>
            </a:r>
            <a:r>
              <a:rPr kumimoji="1" lang="zh-CN" altLang="en-US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结果</a:t>
            </a:r>
            <a:r>
              <a:rPr kumimoji="1" lang="en-US" altLang="zh-CN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7c669445</a:t>
            </a:r>
            <a:r>
              <a:rPr kumimoji="1" lang="zh-CN" altLang="en-US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进行功能测试，显示得分为</a:t>
            </a:r>
            <a:r>
              <a:rPr kumimoji="1" lang="en-US" altLang="zh-CN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100</a:t>
            </a:r>
            <a:r>
              <a:rPr kumimoji="1" lang="zh-CN" altLang="en-US" sz="1600" dirty="0" err="1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Source Han Sans"/>
              </a:rPr>
              <a:t>，功能测试通过。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8EF87D-21E6-8F21-8843-B52BD3DE8B4A}"/>
              </a:ext>
            </a:extLst>
          </p:cNvPr>
          <p:cNvSpPr txBox="1"/>
          <p:nvPr/>
        </p:nvSpPr>
        <p:spPr>
          <a:xfrm>
            <a:off x="6762807" y="3624432"/>
            <a:ext cx="3309257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>
                <a:latin typeface="+mj-ea"/>
                <a:ea typeface="+mj-ea"/>
              </a:rPr>
              <a:t>图五：</a:t>
            </a:r>
            <a:r>
              <a:rPr lang="zh-CN" altLang="en-US" sz="1200" b="1" dirty="0">
                <a:latin typeface="+mj-ea"/>
                <a:ea typeface="+mj-ea"/>
              </a:rPr>
              <a:t>功能测试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084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681605" y="2880000"/>
            <a:ext cx="682879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b="1" dirty="0">
                <a:solidFill>
                  <a:srgbClr val="142DA8"/>
                </a:solidFill>
                <a:latin typeface="+mj-ea"/>
                <a:ea typeface="+mj-ea"/>
              </a:rPr>
              <a:t>总结</a:t>
            </a: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3473768" y="3780000"/>
            <a:ext cx="5244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666666"/>
                </a:solidFill>
                <a:latin typeface="HarmonyOS Sans SC" panose="00000500000000000000" charset="-122"/>
                <a:ea typeface="HarmonyOS Sans SC" panose="00000500000000000000" charset="-122"/>
              </a:rPr>
              <a:t>（</a:t>
            </a:r>
            <a:r>
              <a:rPr lang="zh-CN" altLang="en-US" sz="2800" dirty="0">
                <a:solidFill>
                  <a:srgbClr val="666666"/>
                </a:solidFill>
                <a:latin typeface="+mj-ea"/>
                <a:ea typeface="+mj-ea"/>
              </a:rPr>
              <a:t>心得体会</a:t>
            </a:r>
            <a:r>
              <a:rPr lang="en-US" altLang="zh-CN" sz="2800" dirty="0">
                <a:solidFill>
                  <a:srgbClr val="666666"/>
                </a:solidFill>
                <a:latin typeface="+mj-ea"/>
                <a:ea typeface="+mj-ea"/>
              </a:rPr>
              <a:t>+</a:t>
            </a:r>
            <a:r>
              <a:rPr lang="zh-CN" altLang="en-US" sz="2800" dirty="0">
                <a:solidFill>
                  <a:srgbClr val="666666"/>
                </a:solidFill>
                <a:latin typeface="+mj-ea"/>
                <a:ea typeface="+mj-ea"/>
              </a:rPr>
              <a:t>后续工作</a:t>
            </a:r>
            <a:r>
              <a:rPr lang="zh-CN" altLang="en-US" sz="2800" dirty="0">
                <a:solidFill>
                  <a:srgbClr val="666666"/>
                </a:solidFill>
                <a:latin typeface="HarmonyOS Sans SC" panose="00000500000000000000" charset="-122"/>
                <a:ea typeface="HarmonyOS Sans SC" panose="00000500000000000000" charset="-122"/>
              </a:rPr>
              <a:t>）</a:t>
            </a: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5646000" y="1800230"/>
            <a:ext cx="900000" cy="900000"/>
          </a:xfrm>
          <a:prstGeom prst="rect">
            <a:avLst/>
          </a:prstGeom>
          <a:solidFill>
            <a:srgbClr val="9545E5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HarmonyOS Sans SC Black" panose="00000A00000000000000" charset="-122"/>
                <a:ea typeface="HarmonyOS Sans SC Black" panose="00000A00000000000000" charset="-122"/>
              </a:rPr>
              <a:t>4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4E51E-8304-E7D5-71EE-AC6BB22A6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73F34889-EB6C-E045-CB22-EB7222B59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DA9453BC-36BF-1727-C992-EF7E13322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755" name="圆角矩形 2">
            <a:extLst>
              <a:ext uri="{FF2B5EF4-FFF2-40B4-BE49-F238E27FC236}">
                <a16:creationId xmlns:a16="http://schemas.microsoft.com/office/drawing/2014/main" id="{7E548840-2F92-F63C-E188-92B0145A829E}"/>
              </a:ext>
            </a:extLst>
          </p:cNvPr>
          <p:cNvSpPr/>
          <p:nvPr/>
        </p:nvSpPr>
        <p:spPr>
          <a:xfrm>
            <a:off x="1386526" y="1797167"/>
            <a:ext cx="9614846" cy="2013086"/>
          </a:xfrm>
          <a:prstGeom prst="roundRect">
            <a:avLst>
              <a:gd name="adj" fmla="val 2323"/>
            </a:avLst>
          </a:prstGeom>
          <a:gradFill>
            <a:gsLst>
              <a:gs pos="0">
                <a:srgbClr val="2A64E3"/>
              </a:gs>
              <a:gs pos="73343">
                <a:srgbClr val="8E84C6"/>
              </a:gs>
              <a:gs pos="100000">
                <a:srgbClr val="F2A5A8"/>
              </a:gs>
            </a:gsLst>
            <a:lin ang="2700000"/>
          </a:gradFill>
          <a:ln w="12700">
            <a:miter lim="400000"/>
          </a:ln>
          <a:effectLst>
            <a:outerShdw blurRad="292100" dist="38100" dir="5400000" rotWithShape="0">
              <a:srgbClr val="000000">
                <a:alpha val="12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20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756" name="圆形">
            <a:extLst>
              <a:ext uri="{FF2B5EF4-FFF2-40B4-BE49-F238E27FC236}">
                <a16:creationId xmlns:a16="http://schemas.microsoft.com/office/drawing/2014/main" id="{CEA761AD-551D-B418-CD42-BA5C5CC0A85A}"/>
              </a:ext>
            </a:extLst>
          </p:cNvPr>
          <p:cNvSpPr/>
          <p:nvPr/>
        </p:nvSpPr>
        <p:spPr>
          <a:xfrm>
            <a:off x="1703511" y="4189431"/>
            <a:ext cx="631191" cy="631193"/>
          </a:xfrm>
          <a:prstGeom prst="ellipse">
            <a:avLst/>
          </a:prstGeom>
          <a:solidFill>
            <a:srgbClr val="2A64E3"/>
          </a:solidFill>
          <a:ln w="12700">
            <a:miter lim="400000"/>
          </a:ln>
          <a:effectLst>
            <a:outerShdw blurRad="254000" dist="203200" dir="5400000" rotWithShape="0">
              <a:srgbClr val="535353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757" name="01">
            <a:extLst>
              <a:ext uri="{FF2B5EF4-FFF2-40B4-BE49-F238E27FC236}">
                <a16:creationId xmlns:a16="http://schemas.microsoft.com/office/drawing/2014/main" id="{1CB3F7E8-4731-DC0C-00F9-C578B0642F87}"/>
              </a:ext>
            </a:extLst>
          </p:cNvPr>
          <p:cNvSpPr txBox="1"/>
          <p:nvPr/>
        </p:nvSpPr>
        <p:spPr>
          <a:xfrm>
            <a:off x="1841667" y="4351675"/>
            <a:ext cx="354879" cy="30670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>
                <a:latin typeface="HarmonyOS Sans SC" panose="00000500000000000000" charset="-122"/>
                <a:ea typeface="HarmonyOS Sans SC" panose="00000500000000000000" charset="-122"/>
              </a:rPr>
              <a:t>01</a:t>
            </a:r>
          </a:p>
        </p:txBody>
      </p:sp>
      <p:sp>
        <p:nvSpPr>
          <p:cNvPr id="758" name="圆形">
            <a:extLst>
              <a:ext uri="{FF2B5EF4-FFF2-40B4-BE49-F238E27FC236}">
                <a16:creationId xmlns:a16="http://schemas.microsoft.com/office/drawing/2014/main" id="{0122BF80-822F-71FE-B725-0373F0807CA6}"/>
              </a:ext>
            </a:extLst>
          </p:cNvPr>
          <p:cNvSpPr/>
          <p:nvPr/>
        </p:nvSpPr>
        <p:spPr>
          <a:xfrm>
            <a:off x="1703511" y="5199803"/>
            <a:ext cx="631191" cy="631193"/>
          </a:xfrm>
          <a:prstGeom prst="ellipse">
            <a:avLst/>
          </a:prstGeom>
          <a:solidFill>
            <a:srgbClr val="2A64E3"/>
          </a:solidFill>
          <a:ln w="12700">
            <a:miter lim="400000"/>
          </a:ln>
          <a:effectLst>
            <a:outerShdw blurRad="254000" dist="203200" dir="5400000" rotWithShape="0">
              <a:srgbClr val="535353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759" name="02">
            <a:extLst>
              <a:ext uri="{FF2B5EF4-FFF2-40B4-BE49-F238E27FC236}">
                <a16:creationId xmlns:a16="http://schemas.microsoft.com/office/drawing/2014/main" id="{653D44DD-E066-E8FD-3EDB-353CF7894298}"/>
              </a:ext>
            </a:extLst>
          </p:cNvPr>
          <p:cNvSpPr txBox="1"/>
          <p:nvPr/>
        </p:nvSpPr>
        <p:spPr>
          <a:xfrm>
            <a:off x="1841667" y="5342679"/>
            <a:ext cx="354879" cy="3454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>
                <a:latin typeface="HarmonyOS Sans SC" panose="00000500000000000000" charset="-122"/>
                <a:ea typeface="HarmonyOS Sans SC" panose="00000500000000000000" charset="-122"/>
              </a:rPr>
              <a:t>02</a:t>
            </a:r>
          </a:p>
        </p:txBody>
      </p:sp>
      <p:sp>
        <p:nvSpPr>
          <p:cNvPr id="760" name="圆形">
            <a:extLst>
              <a:ext uri="{FF2B5EF4-FFF2-40B4-BE49-F238E27FC236}">
                <a16:creationId xmlns:a16="http://schemas.microsoft.com/office/drawing/2014/main" id="{960CC295-FB9B-94E9-434E-EA186A2F4785}"/>
              </a:ext>
            </a:extLst>
          </p:cNvPr>
          <p:cNvSpPr/>
          <p:nvPr/>
        </p:nvSpPr>
        <p:spPr>
          <a:xfrm>
            <a:off x="6748615" y="4189431"/>
            <a:ext cx="631191" cy="631193"/>
          </a:xfrm>
          <a:prstGeom prst="ellipse">
            <a:avLst/>
          </a:prstGeom>
          <a:solidFill>
            <a:srgbClr val="2A64E3"/>
          </a:solidFill>
          <a:ln w="12700">
            <a:miter lim="400000"/>
          </a:ln>
          <a:effectLst>
            <a:outerShdw blurRad="254000" dist="203200" dir="5400000" rotWithShape="0">
              <a:srgbClr val="535353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761" name="03">
            <a:extLst>
              <a:ext uri="{FF2B5EF4-FFF2-40B4-BE49-F238E27FC236}">
                <a16:creationId xmlns:a16="http://schemas.microsoft.com/office/drawing/2014/main" id="{866929FD-C038-98E7-DEB6-7910EAD2EB3B}"/>
              </a:ext>
            </a:extLst>
          </p:cNvPr>
          <p:cNvSpPr txBox="1"/>
          <p:nvPr/>
        </p:nvSpPr>
        <p:spPr>
          <a:xfrm>
            <a:off x="6886771" y="4332307"/>
            <a:ext cx="354879" cy="3454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>
                <a:latin typeface="HarmonyOS Sans SC" panose="00000500000000000000" charset="-122"/>
                <a:ea typeface="HarmonyOS Sans SC" panose="00000500000000000000" charset="-122"/>
              </a:rPr>
              <a:t>03</a:t>
            </a:r>
          </a:p>
        </p:txBody>
      </p:sp>
      <p:sp>
        <p:nvSpPr>
          <p:cNvPr id="762" name="圆形">
            <a:extLst>
              <a:ext uri="{FF2B5EF4-FFF2-40B4-BE49-F238E27FC236}">
                <a16:creationId xmlns:a16="http://schemas.microsoft.com/office/drawing/2014/main" id="{2CF0E73E-83A2-1C15-6324-35617BED09F7}"/>
              </a:ext>
            </a:extLst>
          </p:cNvPr>
          <p:cNvSpPr/>
          <p:nvPr/>
        </p:nvSpPr>
        <p:spPr>
          <a:xfrm>
            <a:off x="6748615" y="5199803"/>
            <a:ext cx="631191" cy="631193"/>
          </a:xfrm>
          <a:prstGeom prst="ellipse">
            <a:avLst/>
          </a:prstGeom>
          <a:solidFill>
            <a:srgbClr val="2A64E3"/>
          </a:solidFill>
          <a:ln w="12700">
            <a:miter lim="400000"/>
          </a:ln>
          <a:effectLst>
            <a:outerShdw blurRad="254000" dist="203200" dir="5400000" rotWithShape="0">
              <a:srgbClr val="535353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763" name="04">
            <a:extLst>
              <a:ext uri="{FF2B5EF4-FFF2-40B4-BE49-F238E27FC236}">
                <a16:creationId xmlns:a16="http://schemas.microsoft.com/office/drawing/2014/main" id="{98D570CC-05E8-D3E1-4E9E-B5CC17E525BD}"/>
              </a:ext>
            </a:extLst>
          </p:cNvPr>
          <p:cNvSpPr txBox="1"/>
          <p:nvPr/>
        </p:nvSpPr>
        <p:spPr>
          <a:xfrm>
            <a:off x="6886771" y="5342679"/>
            <a:ext cx="354879" cy="3454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>
                <a:latin typeface="HarmonyOS Sans SC" panose="00000500000000000000" charset="-122"/>
                <a:ea typeface="HarmonyOS Sans SC" panose="00000500000000000000" charset="-122"/>
              </a:rPr>
              <a:t>04</a:t>
            </a:r>
          </a:p>
        </p:txBody>
      </p:sp>
      <p:sp>
        <p:nvSpPr>
          <p:cNvPr id="764" name="文本框 11">
            <a:extLst>
              <a:ext uri="{FF2B5EF4-FFF2-40B4-BE49-F238E27FC236}">
                <a16:creationId xmlns:a16="http://schemas.microsoft.com/office/drawing/2014/main" id="{358B0370-7615-4CDF-1396-4CD5BF2EBE73}"/>
              </a:ext>
            </a:extLst>
          </p:cNvPr>
          <p:cNvSpPr txBox="1"/>
          <p:nvPr/>
        </p:nvSpPr>
        <p:spPr>
          <a:xfrm>
            <a:off x="5173591" y="2721498"/>
            <a:ext cx="5087053" cy="31636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l">
              <a:lnSpc>
                <a:spcPct val="150000"/>
              </a:lnSpc>
            </a:pPr>
            <a:r>
              <a:rPr kumimoji="1" lang="en-US" altLang="zh-CN" sz="1100" b="1" dirty="0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Source Han Sans"/>
              </a:rPr>
              <a:t>在 SoC </a:t>
            </a:r>
            <a:r>
              <a:rPr kumimoji="1" lang="en-US" altLang="zh-CN" sz="1100" b="1" dirty="0" err="1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Source Han Sans"/>
              </a:rPr>
              <a:t>搭建过程中，遇到了</a:t>
            </a:r>
            <a:r>
              <a:rPr kumimoji="1" lang="en-US" altLang="zh-CN" sz="1100" b="1" dirty="0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Source Han Sans"/>
              </a:rPr>
              <a:t> AXI Crossbar </a:t>
            </a:r>
            <a:r>
              <a:rPr kumimoji="1" lang="en-US" altLang="zh-CN" sz="1100" b="1" dirty="0" err="1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Source Han Sans"/>
              </a:rPr>
              <a:t>连接错误、信号位宽不匹配等问题</a:t>
            </a:r>
            <a:endParaRPr kumimoji="1" lang="zh-CN" altLang="en-US" sz="11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65" name="文本框 12">
            <a:extLst>
              <a:ext uri="{FF2B5EF4-FFF2-40B4-BE49-F238E27FC236}">
                <a16:creationId xmlns:a16="http://schemas.microsoft.com/office/drawing/2014/main" id="{F026FC61-EA4D-6E72-6439-2E94358D3993}"/>
              </a:ext>
            </a:extLst>
          </p:cNvPr>
          <p:cNvSpPr txBox="1"/>
          <p:nvPr/>
        </p:nvSpPr>
        <p:spPr>
          <a:xfrm>
            <a:off x="5173591" y="2155581"/>
            <a:ext cx="2119242" cy="41960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 b="1">
                <a:solidFill>
                  <a:srgbClr val="FFFFFF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HarmonyOS Sans SC Medium" panose="00000600000000000000" charset="-122"/>
                <a:ea typeface="HarmonyOS Sans SC Medium" panose="00000600000000000000" charset="-122"/>
              </a:rPr>
              <a:t>遇到的困难</a:t>
            </a:r>
            <a:endParaRPr dirty="0">
              <a:latin typeface="HarmonyOS Sans SC Medium" panose="00000600000000000000" charset="-122"/>
              <a:ea typeface="HarmonyOS Sans SC Medium" panose="00000600000000000000" charset="-122"/>
            </a:endParaRPr>
          </a:p>
        </p:txBody>
      </p:sp>
      <p:sp>
        <p:nvSpPr>
          <p:cNvPr id="766" name="文本框 13">
            <a:extLst>
              <a:ext uri="{FF2B5EF4-FFF2-40B4-BE49-F238E27FC236}">
                <a16:creationId xmlns:a16="http://schemas.microsoft.com/office/drawing/2014/main" id="{238365E3-A486-82B8-2657-576C52B4FBDE}"/>
              </a:ext>
            </a:extLst>
          </p:cNvPr>
          <p:cNvSpPr txBox="1"/>
          <p:nvPr/>
        </p:nvSpPr>
        <p:spPr>
          <a:xfrm>
            <a:off x="1657827" y="3793471"/>
            <a:ext cx="2119242" cy="37869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解决方法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767" name="文本框 14">
            <a:extLst>
              <a:ext uri="{FF2B5EF4-FFF2-40B4-BE49-F238E27FC236}">
                <a16:creationId xmlns:a16="http://schemas.microsoft.com/office/drawing/2014/main" id="{9EA7B3D0-E6CE-6D25-CD66-9ED1289F4C0C}"/>
              </a:ext>
            </a:extLst>
          </p:cNvPr>
          <p:cNvSpPr txBox="1"/>
          <p:nvPr/>
        </p:nvSpPr>
        <p:spPr>
          <a:xfrm>
            <a:off x="2584888" y="4320682"/>
            <a:ext cx="2926820" cy="38266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595959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cs typeface="Source Han Sans"/>
              </a:rPr>
              <a:t>查阅资料</a:t>
            </a:r>
            <a:endParaRPr sz="1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74" name="直接连接符 21">
            <a:extLst>
              <a:ext uri="{FF2B5EF4-FFF2-40B4-BE49-F238E27FC236}">
                <a16:creationId xmlns:a16="http://schemas.microsoft.com/office/drawing/2014/main" id="{8465BB84-2BAA-65BB-0883-331EF0C35B72}"/>
              </a:ext>
            </a:extLst>
          </p:cNvPr>
          <p:cNvSpPr/>
          <p:nvPr/>
        </p:nvSpPr>
        <p:spPr>
          <a:xfrm>
            <a:off x="5240440" y="2602204"/>
            <a:ext cx="325150" cy="1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775" name="b9103699cfc5c3d0af5973693818c4961a3bae53ad84d-G3QvIn.jpeg" descr="b9103699cfc5c3d0af5973693818c4961a3bae53ad84d-G3QvIn.jpeg">
            <a:extLst>
              <a:ext uri="{FF2B5EF4-FFF2-40B4-BE49-F238E27FC236}">
                <a16:creationId xmlns:a16="http://schemas.microsoft.com/office/drawing/2014/main" id="{11F7EC3F-8533-3756-9E41-451C93CABF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590" r="7588" b="6"/>
          <a:stretch>
            <a:fillRect/>
          </a:stretch>
        </p:blipFill>
        <p:spPr>
          <a:xfrm>
            <a:off x="1386527" y="1797167"/>
            <a:ext cx="3046413" cy="2012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" y="0"/>
                </a:moveTo>
                <a:cubicBezTo>
                  <a:pt x="154" y="0"/>
                  <a:pt x="0" y="225"/>
                  <a:pt x="0" y="503"/>
                </a:cubicBezTo>
                <a:lnTo>
                  <a:pt x="0" y="21102"/>
                </a:lnTo>
                <a:cubicBezTo>
                  <a:pt x="0" y="21379"/>
                  <a:pt x="154" y="21600"/>
                  <a:pt x="343" y="21600"/>
                </a:cubicBezTo>
                <a:lnTo>
                  <a:pt x="21257" y="21600"/>
                </a:lnTo>
                <a:cubicBezTo>
                  <a:pt x="21446" y="21600"/>
                  <a:pt x="21600" y="21379"/>
                  <a:pt x="21600" y="21102"/>
                </a:cubicBezTo>
                <a:lnTo>
                  <a:pt x="21600" y="503"/>
                </a:lnTo>
                <a:cubicBezTo>
                  <a:pt x="21600" y="225"/>
                  <a:pt x="21446" y="0"/>
                  <a:pt x="21257" y="0"/>
                </a:cubicBezTo>
                <a:lnTo>
                  <a:pt x="343" y="0"/>
                </a:ln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730DBF6-5BF6-6585-182B-3889E53B93B7}"/>
              </a:ext>
            </a:extLst>
          </p:cNvPr>
          <p:cNvSpPr/>
          <p:nvPr/>
        </p:nvSpPr>
        <p:spPr>
          <a:xfrm>
            <a:off x="10010968" y="965294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组合 33">
            <a:extLst>
              <a:ext uri="{FF2B5EF4-FFF2-40B4-BE49-F238E27FC236}">
                <a16:creationId xmlns:a16="http://schemas.microsoft.com/office/drawing/2014/main" id="{3A9A0C15-0463-E838-5227-AFD0295591B0}"/>
              </a:ext>
            </a:extLst>
          </p:cNvPr>
          <p:cNvSpPr/>
          <p:nvPr/>
        </p:nvSpPr>
        <p:spPr>
          <a:xfrm>
            <a:off x="8998837" y="425294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心得体会</a:t>
            </a:r>
            <a:endParaRPr lang="zh-CN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文本框 14">
            <a:extLst>
              <a:ext uri="{FF2B5EF4-FFF2-40B4-BE49-F238E27FC236}">
                <a16:creationId xmlns:a16="http://schemas.microsoft.com/office/drawing/2014/main" id="{4379ADA1-DF48-787A-FD33-6EB1D8CFD266}"/>
              </a:ext>
            </a:extLst>
          </p:cNvPr>
          <p:cNvSpPr txBox="1"/>
          <p:nvPr/>
        </p:nvSpPr>
        <p:spPr>
          <a:xfrm>
            <a:off x="7634378" y="4313693"/>
            <a:ext cx="2926820" cy="38266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595959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kumimoji="1" lang="zh-CN" altLang="en-US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cs typeface="Source Han Sans"/>
              </a:rPr>
              <a:t>分析报错信息</a:t>
            </a:r>
            <a:endParaRPr sz="1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14">
            <a:extLst>
              <a:ext uri="{FF2B5EF4-FFF2-40B4-BE49-F238E27FC236}">
                <a16:creationId xmlns:a16="http://schemas.microsoft.com/office/drawing/2014/main" id="{E11752FA-014C-96B8-7069-E32BC356F781}"/>
              </a:ext>
            </a:extLst>
          </p:cNvPr>
          <p:cNvSpPr txBox="1"/>
          <p:nvPr/>
        </p:nvSpPr>
        <p:spPr>
          <a:xfrm>
            <a:off x="2608124" y="5275954"/>
            <a:ext cx="2926820" cy="38266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595959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kumimoji="1" lang="zh-CN" altLang="en-US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对比汇编文件</a:t>
            </a:r>
            <a:endParaRPr sz="1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文本框 14">
            <a:extLst>
              <a:ext uri="{FF2B5EF4-FFF2-40B4-BE49-F238E27FC236}">
                <a16:creationId xmlns:a16="http://schemas.microsoft.com/office/drawing/2014/main" id="{F1457F0C-F9E6-B512-D56B-9BAE700E0A42}"/>
              </a:ext>
            </a:extLst>
          </p:cNvPr>
          <p:cNvSpPr txBox="1"/>
          <p:nvPr/>
        </p:nvSpPr>
        <p:spPr>
          <a:xfrm>
            <a:off x="7717117" y="5203495"/>
            <a:ext cx="2926820" cy="38266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595959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kumimoji="1" lang="zh-CN" altLang="en-US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利用反汇编</a:t>
            </a:r>
            <a:endParaRPr sz="1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1507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pic>
        <p:nvPicPr>
          <p:cNvPr id="2" name="图片 1" descr="R-C"/>
          <p:cNvPicPr/>
          <p:nvPr/>
        </p:nvPicPr>
        <p:blipFill>
          <a:blip r:embed="rId26"/>
          <a:srcRect t="19570" b="20843"/>
          <a:stretch>
            <a:fillRect/>
          </a:stretch>
        </p:blipFill>
        <p:spPr>
          <a:xfrm>
            <a:off x="336000" y="1620000"/>
            <a:ext cx="11520000" cy="3600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35915" y="1620000"/>
            <a:ext cx="11520000" cy="3600000"/>
          </a:xfrm>
          <a:prstGeom prst="rect">
            <a:avLst/>
          </a:prstGeom>
          <a:gradFill>
            <a:gsLst>
              <a:gs pos="0">
                <a:srgbClr val="2A64E3">
                  <a:alpha val="72000"/>
                </a:srgbClr>
              </a:gs>
              <a:gs pos="100000">
                <a:srgbClr val="F2A5A8">
                  <a:alpha val="80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40000" y="215900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HarmonyOS Sans SC Medium" panose="00000600000000000000" charset="-122"/>
                <a:ea typeface="HarmonyOS Sans SC Medium" panose="00000600000000000000" charset="-122"/>
              </a:rPr>
              <a:t>后续工作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400396" y="2700020"/>
            <a:ext cx="9197975" cy="699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10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r>
              <a:rPr lang="zh-CN" altLang="en-US" sz="1400" dirty="0">
                <a:latin typeface="HarmonyOS Sans SC Light" panose="00000400000000000000" charset="-122"/>
                <a:ea typeface="HarmonyOS Sans SC Light" panose="00000400000000000000" charset="-122"/>
                <a:cs typeface="HarmonyOS Sans SC Light" panose="00000400000000000000" charset="-122"/>
                <a:sym typeface="+mn-ea"/>
              </a:rPr>
              <a:t>目前提交的内容已经完成了基础的</a:t>
            </a:r>
            <a:r>
              <a:rPr lang="en-US" altLang="zh-CN" sz="1400" dirty="0">
                <a:latin typeface="+mj-ea"/>
                <a:ea typeface="+mj-ea"/>
                <a:cs typeface="HarmonyOS Sans SC Light" panose="00000400000000000000" charset="-122"/>
                <a:sym typeface="+mn-ea"/>
              </a:rPr>
              <a:t>Soc</a:t>
            </a:r>
            <a:r>
              <a:rPr lang="zh-CN" altLang="en-US" sz="1400" dirty="0">
                <a:latin typeface="HarmonyOS Sans SC Light" panose="02010600030101010101" charset="-122"/>
                <a:ea typeface="HarmonyOS Sans SC Light" panose="02010600030101010101" charset="-122"/>
                <a:cs typeface="HarmonyOS Sans SC Light" panose="00000400000000000000" charset="-122"/>
                <a:sym typeface="+mn-ea"/>
              </a:rPr>
              <a:t>构建，</a:t>
            </a:r>
            <a:endParaRPr lang="en-US" altLang="zh-CN" sz="1400" dirty="0">
              <a:latin typeface="HarmonyOS Sans SC Light" panose="02010600030101010101" charset="-122"/>
              <a:ea typeface="HarmonyOS Sans SC Light" panose="02010600030101010101" charset="-122"/>
              <a:cs typeface="HarmonyOS Sans SC Light" panose="00000400000000000000" charset="-122"/>
              <a:sym typeface="+mn-ea"/>
            </a:endParaRPr>
          </a:p>
          <a:p>
            <a:pPr>
              <a:lnSpc>
                <a:spcPct val="150000"/>
              </a:lnSpc>
              <a:defRPr sz="10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r>
              <a:rPr lang="zh-CN" altLang="en-US" sz="1400" dirty="0">
                <a:latin typeface="HarmonyOS Sans SC Light" panose="02010600030101010101" charset="-122"/>
                <a:ea typeface="HarmonyOS Sans SC Light" panose="02010600030101010101" charset="-122"/>
                <a:cs typeface="HarmonyOS Sans SC Light" panose="00000400000000000000" charset="-122"/>
                <a:sym typeface="+mn-ea"/>
              </a:rPr>
              <a:t>在后端开发上还有许多方向可以提高</a:t>
            </a:r>
            <a:endParaRPr lang="zh-CN" altLang="en-US" sz="1400" dirty="0">
              <a:solidFill>
                <a:schemeClr val="bg1"/>
              </a:solidFill>
              <a:latin typeface="HarmonyOS Sans SC Light" panose="02010600030101010101" charset="-122"/>
              <a:ea typeface="HarmonyOS Sans SC Light" panose="02010600030101010101" charset="-122"/>
              <a:cs typeface="HarmonyOS Sans SC Light" panose="00000400000000000000" charset="-122"/>
            </a:endParaRPr>
          </a:p>
        </p:txBody>
      </p:sp>
      <p:sp>
        <p:nvSpPr>
          <p:cNvPr id="409" name="矩形: 圆角 84"/>
          <p:cNvSpPr/>
          <p:nvPr>
            <p:custDataLst>
              <p:tags r:id="rId2"/>
            </p:custDataLst>
          </p:nvPr>
        </p:nvSpPr>
        <p:spPr>
          <a:xfrm rot="283348">
            <a:off x="1179151" y="4618618"/>
            <a:ext cx="2862890" cy="1094001"/>
          </a:xfrm>
          <a:prstGeom prst="roundRect">
            <a:avLst>
              <a:gd name="adj" fmla="val 6866"/>
            </a:avLst>
          </a:prstGeom>
          <a:solidFill>
            <a:srgbClr val="2A64E3"/>
          </a:solidFill>
          <a:ln w="12700">
            <a:miter lim="400000"/>
          </a:ln>
          <a:effectLst>
            <a:outerShdw blurRad="38100" rotWithShape="0">
              <a:srgbClr val="1B6DF1">
                <a:alpha val="16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10" name="矩形: 圆角 69"/>
          <p:cNvSpPr/>
          <p:nvPr>
            <p:custDataLst>
              <p:tags r:id="rId3"/>
            </p:custDataLst>
          </p:nvPr>
        </p:nvSpPr>
        <p:spPr>
          <a:xfrm>
            <a:off x="778414" y="4245735"/>
            <a:ext cx="3292241" cy="1487522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miter lim="400000"/>
          </a:ln>
          <a:effectLst>
            <a:outerShdw blurRad="330200" rotWithShape="0">
              <a:srgbClr val="086DC7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11" name="TextBox 21"/>
          <p:cNvSpPr txBox="1"/>
          <p:nvPr>
            <p:custDataLst>
              <p:tags r:id="rId4"/>
            </p:custDataLst>
          </p:nvPr>
        </p:nvSpPr>
        <p:spPr>
          <a:xfrm>
            <a:off x="1077545" y="4993714"/>
            <a:ext cx="2704420" cy="527517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在初赛要求的基础上，实现通过</a:t>
            </a:r>
            <a:r>
              <a:rPr lang="en-US" altLang="zh-CN" dirty="0">
                <a:latin typeface="+mj-ea"/>
                <a:ea typeface="+mj-ea"/>
              </a:rPr>
              <a:t>DVI</a:t>
            </a:r>
            <a:r>
              <a:rPr lang="zh-CN" altLang="en-US" dirty="0">
                <a:latin typeface="+mj-ea"/>
                <a:ea typeface="+mj-ea"/>
              </a:rPr>
              <a:t>接口输出视频</a:t>
            </a:r>
            <a:endParaRPr dirty="0">
              <a:latin typeface="HarmonyOS Sans SC Light" panose="00000400000000000000" charset="-122"/>
              <a:ea typeface="HarmonyOS Sans SC Light" panose="00000400000000000000" charset="-122"/>
            </a:endParaRPr>
          </a:p>
        </p:txBody>
      </p:sp>
      <p:sp>
        <p:nvSpPr>
          <p:cNvPr id="412" name="直接连接符 10"/>
          <p:cNvSpPr/>
          <p:nvPr>
            <p:custDataLst>
              <p:tags r:id="rId5"/>
            </p:custDataLst>
          </p:nvPr>
        </p:nvSpPr>
        <p:spPr>
          <a:xfrm>
            <a:off x="1297960" y="4843791"/>
            <a:ext cx="1456549" cy="1"/>
          </a:xfrm>
          <a:prstGeom prst="line">
            <a:avLst/>
          </a:prstGeom>
          <a:ln w="6350">
            <a:solidFill>
              <a:srgbClr val="D0CECE">
                <a:alpha val="84000"/>
              </a:srgb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3" name="TextBox 20"/>
          <p:cNvSpPr txBox="1"/>
          <p:nvPr>
            <p:custDataLst>
              <p:tags r:id="rId6"/>
            </p:custDataLst>
          </p:nvPr>
        </p:nvSpPr>
        <p:spPr>
          <a:xfrm>
            <a:off x="1538789" y="4521489"/>
            <a:ext cx="1394665" cy="3683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dirty="0">
                <a:latin typeface="+mj-ea"/>
                <a:ea typeface="+mj-ea"/>
              </a:rPr>
              <a:t>S</a:t>
            </a:r>
            <a:r>
              <a:rPr lang="en-US" altLang="zh-CN" dirty="0">
                <a:latin typeface="+mj-ea"/>
                <a:ea typeface="+mj-ea"/>
              </a:rPr>
              <a:t>tep1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414" name="椭圆 12"/>
          <p:cNvSpPr/>
          <p:nvPr>
            <p:custDataLst>
              <p:tags r:id="rId7"/>
            </p:custDataLst>
          </p:nvPr>
        </p:nvSpPr>
        <p:spPr>
          <a:xfrm>
            <a:off x="995106" y="4431858"/>
            <a:ext cx="472166" cy="472165"/>
          </a:xfrm>
          <a:prstGeom prst="ellipse">
            <a:avLst/>
          </a:prstGeom>
          <a:solidFill>
            <a:srgbClr val="2A64E3"/>
          </a:solidFill>
          <a:ln w="12700">
            <a:miter lim="400000"/>
          </a:ln>
          <a:effectLst>
            <a:outerShdw blurRad="203200" dist="1270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15" name="Object 800011"/>
          <p:cNvSpPr txBox="1"/>
          <p:nvPr>
            <p:custDataLst>
              <p:tags r:id="rId8"/>
            </p:custDataLst>
          </p:nvPr>
        </p:nvSpPr>
        <p:spPr>
          <a:xfrm>
            <a:off x="1061981" y="4492092"/>
            <a:ext cx="338415" cy="361950"/>
          </a:xfrm>
          <a:prstGeom prst="rect">
            <a:avLst/>
          </a:prstGeom>
          <a:ln w="12700">
            <a:miter lim="400000"/>
          </a:ln>
        </p:spPr>
        <p:txBody>
          <a:bodyPr lIns="23927" tIns="23927" rIns="23927" bIns="23927">
            <a:spAutoFit/>
          </a:bodyPr>
          <a:lstStyle>
            <a:lvl1pPr algn="ctr">
              <a:lnSpc>
                <a:spcPct val="114000"/>
              </a:lnSpc>
              <a:defRPr b="1">
                <a:solidFill>
                  <a:srgbClr val="FFFFFF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>
                <a:latin typeface="HarmonyOS Sans SC Medium" panose="00000600000000000000" charset="-122"/>
                <a:ea typeface="HarmonyOS Sans SC Medium" panose="00000600000000000000" charset="-122"/>
              </a:rPr>
              <a:t>01</a:t>
            </a:r>
          </a:p>
        </p:txBody>
      </p:sp>
      <p:sp>
        <p:nvSpPr>
          <p:cNvPr id="416" name="矩形: 圆角 91"/>
          <p:cNvSpPr/>
          <p:nvPr>
            <p:custDataLst>
              <p:tags r:id="rId9"/>
            </p:custDataLst>
          </p:nvPr>
        </p:nvSpPr>
        <p:spPr>
          <a:xfrm rot="283348">
            <a:off x="4843657" y="4618616"/>
            <a:ext cx="2862890" cy="1094001"/>
          </a:xfrm>
          <a:prstGeom prst="roundRect">
            <a:avLst>
              <a:gd name="adj" fmla="val 6866"/>
            </a:avLst>
          </a:prstGeom>
          <a:solidFill>
            <a:srgbClr val="2A64E3"/>
          </a:solidFill>
          <a:ln w="12700">
            <a:miter lim="400000"/>
          </a:ln>
          <a:effectLst>
            <a:outerShdw blurRad="38100" rotWithShape="0">
              <a:srgbClr val="1B6DF1">
                <a:alpha val="16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17" name="矩形: 圆角 168"/>
          <p:cNvSpPr/>
          <p:nvPr>
            <p:custDataLst>
              <p:tags r:id="rId10"/>
            </p:custDataLst>
          </p:nvPr>
        </p:nvSpPr>
        <p:spPr>
          <a:xfrm>
            <a:off x="4461235" y="4245735"/>
            <a:ext cx="3292241" cy="1487522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miter lim="400000"/>
          </a:ln>
          <a:effectLst>
            <a:outerShdw blurRad="330200" rotWithShape="0">
              <a:srgbClr val="086DC7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18" name="TextBox 21"/>
          <p:cNvSpPr txBox="1"/>
          <p:nvPr>
            <p:custDataLst>
              <p:tags r:id="rId11"/>
            </p:custDataLst>
          </p:nvPr>
        </p:nvSpPr>
        <p:spPr>
          <a:xfrm>
            <a:off x="4760367" y="4993714"/>
            <a:ext cx="2704420" cy="5359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通过开发板上</a:t>
            </a:r>
            <a:r>
              <a:rPr lang="en-US" altLang="zh-CN" dirty="0">
                <a:latin typeface="+mj-ea"/>
                <a:ea typeface="+mj-ea"/>
              </a:rPr>
              <a:t>32</a:t>
            </a:r>
            <a:r>
              <a:rPr lang="zh-CN" altLang="en-US" dirty="0">
                <a:latin typeface="+mj-ea"/>
                <a:ea typeface="+mj-ea"/>
              </a:rPr>
              <a:t>个开关和</a:t>
            </a:r>
            <a:r>
              <a:rPr lang="en-US" altLang="zh-CN" dirty="0">
                <a:latin typeface="+mj-ea"/>
                <a:ea typeface="+mj-ea"/>
              </a:rPr>
              <a:t>4</a:t>
            </a:r>
            <a:r>
              <a:rPr lang="zh-CN" altLang="en-US" dirty="0">
                <a:latin typeface="+mj-ea"/>
                <a:ea typeface="+mj-ea"/>
              </a:rPr>
              <a:t>个按钮与开发板进行交互</a:t>
            </a:r>
            <a:endParaRPr dirty="0">
              <a:latin typeface="HarmonyOS Sans SC Light" panose="00000400000000000000" charset="-122"/>
              <a:ea typeface="HarmonyOS Sans SC Light" panose="00000400000000000000" charset="-122"/>
            </a:endParaRPr>
          </a:p>
        </p:txBody>
      </p:sp>
      <p:sp>
        <p:nvSpPr>
          <p:cNvPr id="419" name="直接连接符 17"/>
          <p:cNvSpPr/>
          <p:nvPr>
            <p:custDataLst>
              <p:tags r:id="rId12"/>
            </p:custDataLst>
          </p:nvPr>
        </p:nvSpPr>
        <p:spPr>
          <a:xfrm>
            <a:off x="5083276" y="4858256"/>
            <a:ext cx="1456548" cy="1"/>
          </a:xfrm>
          <a:prstGeom prst="line">
            <a:avLst/>
          </a:prstGeom>
          <a:ln w="6350">
            <a:solidFill>
              <a:srgbClr val="D0CECE">
                <a:alpha val="84000"/>
              </a:srgb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0" name="TextBox 20"/>
          <p:cNvSpPr txBox="1"/>
          <p:nvPr>
            <p:custDataLst>
              <p:tags r:id="rId13"/>
            </p:custDataLst>
          </p:nvPr>
        </p:nvSpPr>
        <p:spPr>
          <a:xfrm>
            <a:off x="5275298" y="4521489"/>
            <a:ext cx="1394666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dirty="0">
                <a:latin typeface="+mj-ea"/>
                <a:ea typeface="+mj-ea"/>
              </a:rPr>
              <a:t>Step2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421" name="椭圆 19"/>
          <p:cNvSpPr/>
          <p:nvPr>
            <p:custDataLst>
              <p:tags r:id="rId14"/>
            </p:custDataLst>
          </p:nvPr>
        </p:nvSpPr>
        <p:spPr>
          <a:xfrm>
            <a:off x="4731615" y="4431858"/>
            <a:ext cx="472165" cy="472165"/>
          </a:xfrm>
          <a:prstGeom prst="ellipse">
            <a:avLst/>
          </a:prstGeom>
          <a:solidFill>
            <a:srgbClr val="2A64E3"/>
          </a:solidFill>
          <a:ln w="12700">
            <a:miter lim="400000"/>
          </a:ln>
          <a:effectLst>
            <a:outerShdw blurRad="203200" dist="1270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22" name="Object 800011"/>
          <p:cNvSpPr txBox="1"/>
          <p:nvPr>
            <p:custDataLst>
              <p:tags r:id="rId15"/>
            </p:custDataLst>
          </p:nvPr>
        </p:nvSpPr>
        <p:spPr>
          <a:xfrm>
            <a:off x="4774305" y="4492092"/>
            <a:ext cx="394236" cy="365357"/>
          </a:xfrm>
          <a:prstGeom prst="rect">
            <a:avLst/>
          </a:prstGeom>
          <a:ln w="12700">
            <a:miter lim="400000"/>
          </a:ln>
        </p:spPr>
        <p:txBody>
          <a:bodyPr lIns="23927" tIns="23927" rIns="23927" bIns="23927">
            <a:spAutoFit/>
          </a:bodyPr>
          <a:lstStyle>
            <a:lvl1pPr algn="ctr">
              <a:lnSpc>
                <a:spcPct val="114000"/>
              </a:lnSpc>
              <a:defRPr b="1">
                <a:solidFill>
                  <a:srgbClr val="FFFFFF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>
                <a:latin typeface="HarmonyOS Sans SC Medium" panose="00000600000000000000" charset="-122"/>
                <a:ea typeface="HarmonyOS Sans SC Medium" panose="00000600000000000000" charset="-122"/>
              </a:rPr>
              <a:t>02</a:t>
            </a:r>
          </a:p>
        </p:txBody>
      </p:sp>
      <p:sp>
        <p:nvSpPr>
          <p:cNvPr id="423" name="矩形: 圆角 92"/>
          <p:cNvSpPr/>
          <p:nvPr>
            <p:custDataLst>
              <p:tags r:id="rId16"/>
            </p:custDataLst>
          </p:nvPr>
        </p:nvSpPr>
        <p:spPr>
          <a:xfrm rot="283348">
            <a:off x="8544445" y="4618616"/>
            <a:ext cx="2862890" cy="1094001"/>
          </a:xfrm>
          <a:prstGeom prst="roundRect">
            <a:avLst>
              <a:gd name="adj" fmla="val 6866"/>
            </a:avLst>
          </a:prstGeom>
          <a:solidFill>
            <a:srgbClr val="2A64E3"/>
          </a:solidFill>
          <a:ln w="12700">
            <a:miter lim="400000"/>
          </a:ln>
          <a:effectLst>
            <a:outerShdw blurRad="38100" rotWithShape="0">
              <a:srgbClr val="1B6DF1">
                <a:alpha val="16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24" name="矩形: 圆角 188"/>
          <p:cNvSpPr/>
          <p:nvPr>
            <p:custDataLst>
              <p:tags r:id="rId17"/>
            </p:custDataLst>
          </p:nvPr>
        </p:nvSpPr>
        <p:spPr>
          <a:xfrm>
            <a:off x="8144057" y="4245735"/>
            <a:ext cx="3292242" cy="1487522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miter lim="400000"/>
          </a:ln>
          <a:effectLst>
            <a:outerShdw blurRad="330200" rotWithShape="0">
              <a:srgbClr val="086DC7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25" name="TextBox 21"/>
          <p:cNvSpPr txBox="1"/>
          <p:nvPr>
            <p:custDataLst>
              <p:tags r:id="rId18"/>
            </p:custDataLst>
          </p:nvPr>
        </p:nvSpPr>
        <p:spPr>
          <a:xfrm>
            <a:off x="8443188" y="4993714"/>
            <a:ext cx="2704420" cy="75764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在片上运行</a:t>
            </a:r>
            <a:r>
              <a:rPr lang="en-US" altLang="zh-CN" dirty="0">
                <a:latin typeface="+mj-ea"/>
                <a:ea typeface="+mj-ea"/>
              </a:rPr>
              <a:t>la32r-Linux</a:t>
            </a:r>
            <a:r>
              <a:rPr lang="zh-CN" altLang="en-US" dirty="0">
                <a:latin typeface="+mj-ea"/>
                <a:ea typeface="+mj-ea"/>
              </a:rPr>
              <a:t>内核的</a:t>
            </a:r>
            <a:r>
              <a:rPr lang="en-US" altLang="zh-CN" dirty="0" err="1">
                <a:latin typeface="+mj-ea"/>
                <a:ea typeface="+mj-ea"/>
              </a:rPr>
              <a:t>linux</a:t>
            </a:r>
            <a:r>
              <a:rPr lang="zh-CN" altLang="en-US" dirty="0">
                <a:latin typeface="+mj-ea"/>
                <a:ea typeface="+mj-ea"/>
              </a:rPr>
              <a:t>系统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en-US" altLang="zh-CN" dirty="0">
                <a:latin typeface="+mj-ea"/>
                <a:ea typeface="+mj-ea"/>
                <a:hlinkClick r:id="rId27"/>
              </a:rPr>
              <a:t>https://gitee.com/loongson-edu/la32r-Linux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426" name="直接连接符 24"/>
          <p:cNvSpPr/>
          <p:nvPr>
            <p:custDataLst>
              <p:tags r:id="rId19"/>
            </p:custDataLst>
          </p:nvPr>
        </p:nvSpPr>
        <p:spPr>
          <a:xfrm>
            <a:off x="8723469" y="4858256"/>
            <a:ext cx="1456548" cy="1"/>
          </a:xfrm>
          <a:prstGeom prst="line">
            <a:avLst/>
          </a:prstGeom>
          <a:ln w="6350">
            <a:solidFill>
              <a:srgbClr val="D0CECE">
                <a:alpha val="84000"/>
              </a:srgb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7" name="TextBox 20"/>
          <p:cNvSpPr txBox="1"/>
          <p:nvPr>
            <p:custDataLst>
              <p:tags r:id="rId20"/>
            </p:custDataLst>
          </p:nvPr>
        </p:nvSpPr>
        <p:spPr>
          <a:xfrm>
            <a:off x="8943315" y="4521489"/>
            <a:ext cx="1394665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dirty="0">
                <a:latin typeface="+mj-ea"/>
                <a:ea typeface="+mj-ea"/>
              </a:rPr>
              <a:t>Step3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428" name="椭圆 26"/>
          <p:cNvSpPr/>
          <p:nvPr>
            <p:custDataLst>
              <p:tags r:id="rId21"/>
            </p:custDataLst>
          </p:nvPr>
        </p:nvSpPr>
        <p:spPr>
          <a:xfrm>
            <a:off x="8399633" y="4431858"/>
            <a:ext cx="472165" cy="472165"/>
          </a:xfrm>
          <a:prstGeom prst="ellipse">
            <a:avLst/>
          </a:prstGeom>
          <a:solidFill>
            <a:srgbClr val="2A64E3"/>
          </a:solidFill>
          <a:ln w="12700">
            <a:miter lim="400000"/>
          </a:ln>
          <a:effectLst>
            <a:outerShdw blurRad="203200" dist="1270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29" name="Object 800011"/>
          <p:cNvSpPr txBox="1"/>
          <p:nvPr>
            <p:custDataLst>
              <p:tags r:id="rId22"/>
            </p:custDataLst>
          </p:nvPr>
        </p:nvSpPr>
        <p:spPr>
          <a:xfrm>
            <a:off x="8418134" y="4492092"/>
            <a:ext cx="455535" cy="365357"/>
          </a:xfrm>
          <a:prstGeom prst="rect">
            <a:avLst/>
          </a:prstGeom>
          <a:ln w="12700">
            <a:miter lim="400000"/>
          </a:ln>
        </p:spPr>
        <p:txBody>
          <a:bodyPr lIns="23927" tIns="23927" rIns="23927" bIns="23927">
            <a:spAutoFit/>
          </a:bodyPr>
          <a:lstStyle>
            <a:lvl1pPr algn="ctr">
              <a:lnSpc>
                <a:spcPct val="114000"/>
              </a:lnSpc>
              <a:defRPr b="1">
                <a:solidFill>
                  <a:srgbClr val="FFFFFF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>
                <a:latin typeface="HarmonyOS Sans SC Medium" panose="00000600000000000000" charset="-122"/>
                <a:ea typeface="HarmonyOS Sans SC Medium" panose="00000600000000000000" charset="-122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8D352A-0DB1-D2BF-2D96-613EF409BFD2}"/>
              </a:ext>
            </a:extLst>
          </p:cNvPr>
          <p:cNvSpPr/>
          <p:nvPr/>
        </p:nvSpPr>
        <p:spPr>
          <a:xfrm>
            <a:off x="10010968" y="965294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组合 33">
            <a:extLst>
              <a:ext uri="{FF2B5EF4-FFF2-40B4-BE49-F238E27FC236}">
                <a16:creationId xmlns:a16="http://schemas.microsoft.com/office/drawing/2014/main" id="{BED329C9-21BB-B2DB-8082-6403F9DED449}"/>
              </a:ext>
            </a:extLst>
          </p:cNvPr>
          <p:cNvSpPr/>
          <p:nvPr/>
        </p:nvSpPr>
        <p:spPr>
          <a:xfrm>
            <a:off x="8998837" y="425294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后续工作</a:t>
            </a:r>
            <a:endParaRPr lang="zh-CN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主题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91" y="-72000"/>
            <a:ext cx="10369018" cy="5832000"/>
          </a:xfrm>
          <a:prstGeom prst="rect">
            <a:avLst/>
          </a:prstGeom>
        </p:spPr>
      </p:pic>
      <p:pic>
        <p:nvPicPr>
          <p:cNvPr id="2" name="图片 1" descr="集创赛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206" y="180000"/>
            <a:ext cx="3743588" cy="234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396990" y="30759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276600" y="3960000"/>
            <a:ext cx="61722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中国集成电路未来之星从这里起步！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064000" y="468000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rgbClr val="666666"/>
                </a:solidFill>
                <a:latin typeface="HarmonyOS Sans SC" panose="00000500000000000000" charset="-122"/>
                <a:ea typeface="HarmonyOS Sans SC" panose="00000500000000000000" charset="-122"/>
              </a:rPr>
              <a:t>在此添加文本描述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17007874015744,&quot;left&quot;:113.38582611083984,&quot;top&quot;:223.93700787401576,&quot;width&quot;:369.4432335728923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17007874015744,&quot;left&quot;:113.38582611083984,&quot;top&quot;:223.93700787401576,&quot;width&quot;:369.4432335728923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17007874015744,&quot;left&quot;:113.38582611083984,&quot;top&quot;:223.93700787401576,&quot;width&quot;:369.4432335728923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17007874015744,&quot;left&quot;:113.38582611083984,&quot;top&quot;:223.93700787401576,&quot;width&quot;:369.4432335728923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17007874015744,&quot;left&quot;:113.38582611083984,&quot;top&quot;:223.93700787401576,&quot;width&quot;:369.4432335728923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17007874015744,&quot;left&quot;:113.38582611083984,&quot;top&quot;:223.93700787401576,&quot;width&quot;:369.4432335728923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17007874015744,&quot;left&quot;:113.38582611083984,&quot;top&quot;:223.93700787401576,&quot;width&quot;:369.4432335728923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17007874015744,&quot;left&quot;:113.38582611083984,&quot;top&quot;:223.93700787401576,&quot;width&quot;:369.4432335728923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17007874015744,&quot;left&quot;:113.38582611083984,&quot;top&quot;:223.93700787401576,&quot;width&quot;:369.4432335728923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17007874015744,&quot;left&quot;:113.38582611083984,&quot;top&quot;:223.93700787401576,&quot;width&quot;:369.4432335728923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80267716535434,&quot;left&quot;:57.99999999999998,&quot;top&quot;:154.72354330708657,&quot;width&quot;:825.7194488188976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80267716535434,&quot;left&quot;:57.99999999999998,&quot;top&quot;:154.72354330708657,&quot;width&quot;:825.7194488188976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80267716535434,&quot;left&quot;:57.99999999999998,&quot;top&quot;:154.72354330708657,&quot;width&quot;:825.7194488188976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80267716535434,&quot;left&quot;:57.99999999999998,&quot;top&quot;:154.72354330708657,&quot;width&quot;:825.7194488188976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80267716535434,&quot;left&quot;:57.99999999999998,&quot;top&quot;:154.72354330708657,&quot;width&quot;:825.7194488188976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80267716535434,&quot;left&quot;:57.99999999999998,&quot;top&quot;:154.72354330708657,&quot;width&quot;:825.7194488188976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80267716535434,&quot;left&quot;:57.99999999999998,&quot;top&quot;:154.72354330708657,&quot;width&quot;:825.7194488188976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80267716535434,&quot;left&quot;:57.99999999999998,&quot;top&quot;:154.72354330708657,&quot;width&quot;:825.7194488188976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668</Words>
  <Application>Microsoft Office PowerPoint</Application>
  <PresentationFormat>宽屏</PresentationFormat>
  <Paragraphs>158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Wingdings</vt:lpstr>
      <vt:lpstr>HarmonyOS Sans SC Black</vt:lpstr>
      <vt:lpstr>Noto Sans SC Black</vt:lpstr>
      <vt:lpstr>Calibri</vt:lpstr>
      <vt:lpstr>Arial</vt:lpstr>
      <vt:lpstr>宋体</vt:lpstr>
      <vt:lpstr>DejaVu Sans Mono</vt:lpstr>
      <vt:lpstr>Microsoft YaHei UI</vt:lpstr>
      <vt:lpstr>HarmonyOS Sans SC Light</vt:lpstr>
      <vt:lpstr>HarmonyOS Sans SC Medium</vt:lpstr>
      <vt:lpstr>微软雅黑</vt:lpstr>
      <vt:lpstr>等线</vt:lpstr>
      <vt:lpstr>Alimama ShuHeiTi Bold</vt:lpstr>
      <vt:lpstr>HarmonyOS Sans SC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贾志强</dc:creator>
  <cp:lastModifiedBy>志强 贾</cp:lastModifiedBy>
  <cp:revision>158</cp:revision>
  <dcterms:created xsi:type="dcterms:W3CDTF">2019-06-19T02:08:00Z</dcterms:created>
  <dcterms:modified xsi:type="dcterms:W3CDTF">2025-05-16T09:55:16Z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F6BD25751A7C48EDB1764C448974A7E0_11</vt:lpwstr>
  </property>
</Properties>
</file>